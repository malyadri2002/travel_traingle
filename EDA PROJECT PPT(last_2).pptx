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82" r:id="rId2"/>
    <p:sldId id="27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9" r:id="rId19"/>
    <p:sldId id="280" r:id="rId20"/>
    <p:sldId id="284" r:id="rId21"/>
    <p:sldId id="273" r:id="rId22"/>
    <p:sldId id="274" r:id="rId23"/>
    <p:sldId id="275" r:id="rId24"/>
  </p:sldIdLst>
  <p:sldSz cx="18288000" cy="10287000"/>
  <p:notesSz cx="6858000" cy="9144000"/>
  <p:embeddedFontLst>
    <p:embeddedFont>
      <p:font typeface="Canva Sans Bold" panose="020B0604020202020204" charset="0"/>
      <p:regular r:id="rId25"/>
    </p:embeddedFont>
    <p:embeddedFont>
      <p:font typeface="Canva Sans Bold Italics" panose="020B0604020202020204" charset="0"/>
      <p:regular r:id="rId26"/>
    </p:embeddedFont>
    <p:embeddedFont>
      <p:font typeface="TT Hoves" panose="020B0604020202020204" charset="0"/>
      <p:regular r:id="rId27"/>
    </p:embeddedFont>
    <p:embeddedFont>
      <p:font typeface="TT Hoves 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51E7F4-0E45-436C-87BA-1D793B5E3A99}" v="26" dt="2025-09-12T11:10:52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-https:/traveltriangle.com/honeymoon-packages/singapore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4.png"/><Relationship Id="rId4" Type="http://schemas.openxmlformats.org/officeDocument/2006/relationships/image" Target="../media/image2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4.png"/><Relationship Id="rId4" Type="http://schemas.openxmlformats.org/officeDocument/2006/relationships/image" Target="../media/image2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8;p1">
            <a:extLst>
              <a:ext uri="{FF2B5EF4-FFF2-40B4-BE49-F238E27FC236}">
                <a16:creationId xmlns:a16="http://schemas.microsoft.com/office/drawing/2014/main" id="{DFC82825-85C4-F663-5499-840E82490557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200" y="-17628"/>
            <a:ext cx="18135600" cy="102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326CBB-0A07-20B6-28DE-7EB9600751F3}"/>
              </a:ext>
            </a:extLst>
          </p:cNvPr>
          <p:cNvSpPr txBox="1"/>
          <p:nvPr/>
        </p:nvSpPr>
        <p:spPr>
          <a:xfrm>
            <a:off x="3505200" y="5676900"/>
            <a:ext cx="12877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		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 PLAN-EDA PROJECT </a:t>
            </a:r>
          </a:p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TRAVEL TRIANGLE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7C241D-5687-1205-4686-9F247D3C1C03}"/>
              </a:ext>
            </a:extLst>
          </p:cNvPr>
          <p:cNvSpPr txBox="1"/>
          <p:nvPr/>
        </p:nvSpPr>
        <p:spPr>
          <a:xfrm>
            <a:off x="9753600" y="8115300"/>
            <a:ext cx="9144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Gobidesi Malyadri</a:t>
            </a:r>
          </a:p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Batch-412</a:t>
            </a:r>
          </a:p>
        </p:txBody>
      </p:sp>
    </p:spTree>
    <p:extLst>
      <p:ext uri="{BB962C8B-B14F-4D97-AF65-F5344CB8AC3E}">
        <p14:creationId xmlns:p14="http://schemas.microsoft.com/office/powerpoint/2010/main" val="3927120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010D7-C893-809A-26E7-23FC44CCD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94" y="495300"/>
            <a:ext cx="5181600" cy="1600199"/>
          </a:xfrm>
        </p:spPr>
        <p:txBody>
          <a:bodyPr>
            <a:normAutofit/>
          </a:bodyPr>
          <a:lstStyle/>
          <a:p>
            <a:r>
              <a:rPr lang="en-IN" sz="6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6F8863-6CE7-47BB-0A61-B78C7BE0A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4741" y="2247900"/>
            <a:ext cx="14325600" cy="1752600"/>
          </a:xfrm>
        </p:spPr>
        <p:txBody>
          <a:bodyPr>
            <a:noAutofit/>
          </a:bodyPr>
          <a:lstStyle/>
          <a:p>
            <a:pPr algn="l"/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 ,I am Gobidesi Malyadri.  </a:t>
            </a:r>
          </a:p>
          <a:p>
            <a:pPr algn="l"/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Recently graduated in Electronics and Communication Engineering  from Sree Venkateshwara College of Engineering , Andhra Pradesh.</a:t>
            </a:r>
          </a:p>
          <a:p>
            <a:pPr algn="l"/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Passionate about solving real-world problems using data-driven solutions and building efficient software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54B48B-A7DE-1F0C-A2F0-4BC123E6E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5400" y="9105900"/>
            <a:ext cx="5324475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33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639" b="-5713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88063" y="546333"/>
            <a:ext cx="6911875" cy="663109"/>
            <a:chOff x="0" y="0"/>
            <a:chExt cx="1820411" cy="1746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0411" cy="174646"/>
            </a:xfrm>
            <a:custGeom>
              <a:avLst/>
              <a:gdLst/>
              <a:ahLst/>
              <a:cxnLst/>
              <a:rect l="l" t="t" r="r" b="b"/>
              <a:pathLst>
                <a:path w="1820411" h="174646">
                  <a:moveTo>
                    <a:pt x="57125" y="0"/>
                  </a:moveTo>
                  <a:lnTo>
                    <a:pt x="1763287" y="0"/>
                  </a:lnTo>
                  <a:cubicBezTo>
                    <a:pt x="1778437" y="0"/>
                    <a:pt x="1792967" y="6018"/>
                    <a:pt x="1803680" y="16731"/>
                  </a:cubicBezTo>
                  <a:cubicBezTo>
                    <a:pt x="1814393" y="27444"/>
                    <a:pt x="1820411" y="41974"/>
                    <a:pt x="1820411" y="57125"/>
                  </a:cubicBezTo>
                  <a:lnTo>
                    <a:pt x="1820411" y="117522"/>
                  </a:lnTo>
                  <a:cubicBezTo>
                    <a:pt x="1820411" y="132672"/>
                    <a:pt x="1814393" y="147202"/>
                    <a:pt x="1803680" y="157915"/>
                  </a:cubicBezTo>
                  <a:cubicBezTo>
                    <a:pt x="1792967" y="168628"/>
                    <a:pt x="1778437" y="174646"/>
                    <a:pt x="1763287" y="174646"/>
                  </a:cubicBezTo>
                  <a:lnTo>
                    <a:pt x="57125" y="174646"/>
                  </a:lnTo>
                  <a:cubicBezTo>
                    <a:pt x="25576" y="174646"/>
                    <a:pt x="0" y="149071"/>
                    <a:pt x="0" y="117522"/>
                  </a:cubicBezTo>
                  <a:lnTo>
                    <a:pt x="0" y="57125"/>
                  </a:lnTo>
                  <a:cubicBezTo>
                    <a:pt x="0" y="25576"/>
                    <a:pt x="25576" y="0"/>
                    <a:pt x="57125" y="0"/>
                  </a:cubicBezTo>
                  <a:close/>
                </a:path>
              </a:pathLst>
            </a:custGeom>
            <a:solidFill>
              <a:srgbClr val="26618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20411" cy="222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688063" y="546333"/>
            <a:ext cx="2193419" cy="663109"/>
            <a:chOff x="0" y="0"/>
            <a:chExt cx="577691" cy="1746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7691" cy="174646"/>
            </a:xfrm>
            <a:custGeom>
              <a:avLst/>
              <a:gdLst/>
              <a:ahLst/>
              <a:cxnLst/>
              <a:rect l="l" t="t" r="r" b="b"/>
              <a:pathLst>
                <a:path w="577691" h="174646">
                  <a:moveTo>
                    <a:pt x="87323" y="0"/>
                  </a:moveTo>
                  <a:lnTo>
                    <a:pt x="490368" y="0"/>
                  </a:lnTo>
                  <a:cubicBezTo>
                    <a:pt x="513527" y="0"/>
                    <a:pt x="535738" y="9200"/>
                    <a:pt x="552114" y="25576"/>
                  </a:cubicBezTo>
                  <a:cubicBezTo>
                    <a:pt x="568491" y="41953"/>
                    <a:pt x="577691" y="64164"/>
                    <a:pt x="577691" y="87323"/>
                  </a:cubicBezTo>
                  <a:lnTo>
                    <a:pt x="577691" y="87323"/>
                  </a:lnTo>
                  <a:cubicBezTo>
                    <a:pt x="577691" y="110483"/>
                    <a:pt x="568491" y="132694"/>
                    <a:pt x="552114" y="149070"/>
                  </a:cubicBezTo>
                  <a:cubicBezTo>
                    <a:pt x="535738" y="165446"/>
                    <a:pt x="513527" y="174646"/>
                    <a:pt x="490368" y="174646"/>
                  </a:cubicBezTo>
                  <a:lnTo>
                    <a:pt x="87323" y="174646"/>
                  </a:lnTo>
                  <a:cubicBezTo>
                    <a:pt x="64164" y="174646"/>
                    <a:pt x="41953" y="165446"/>
                    <a:pt x="25576" y="149070"/>
                  </a:cubicBezTo>
                  <a:cubicBezTo>
                    <a:pt x="9200" y="132694"/>
                    <a:pt x="0" y="110483"/>
                    <a:pt x="0" y="87323"/>
                  </a:cubicBezTo>
                  <a:lnTo>
                    <a:pt x="0" y="87323"/>
                  </a:lnTo>
                  <a:cubicBezTo>
                    <a:pt x="0" y="64164"/>
                    <a:pt x="9200" y="41953"/>
                    <a:pt x="25576" y="25576"/>
                  </a:cubicBezTo>
                  <a:cubicBezTo>
                    <a:pt x="41953" y="9200"/>
                    <a:pt x="64164" y="0"/>
                    <a:pt x="8732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77691" cy="222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2409288" y="-278068"/>
            <a:ext cx="7382976" cy="4116009"/>
          </a:xfrm>
          <a:custGeom>
            <a:avLst/>
            <a:gdLst/>
            <a:ahLst/>
            <a:cxnLst/>
            <a:rect l="l" t="t" r="r" b="b"/>
            <a:pathLst>
              <a:path w="7382976" h="4116009">
                <a:moveTo>
                  <a:pt x="0" y="0"/>
                </a:moveTo>
                <a:lnTo>
                  <a:pt x="7382976" y="0"/>
                </a:lnTo>
                <a:lnTo>
                  <a:pt x="7382976" y="4116009"/>
                </a:lnTo>
                <a:lnTo>
                  <a:pt x="0" y="41160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527451" y="1779936"/>
            <a:ext cx="7382976" cy="4116009"/>
          </a:xfrm>
          <a:custGeom>
            <a:avLst/>
            <a:gdLst/>
            <a:ahLst/>
            <a:cxnLst/>
            <a:rect l="l" t="t" r="r" b="b"/>
            <a:pathLst>
              <a:path w="7382976" h="4116009">
                <a:moveTo>
                  <a:pt x="0" y="0"/>
                </a:moveTo>
                <a:lnTo>
                  <a:pt x="7382976" y="0"/>
                </a:lnTo>
                <a:lnTo>
                  <a:pt x="7382976" y="4116009"/>
                </a:lnTo>
                <a:lnTo>
                  <a:pt x="0" y="41160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382020" y="2092973"/>
            <a:ext cx="13528297" cy="2562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93"/>
              </a:lnSpc>
            </a:pPr>
            <a:r>
              <a:rPr lang="en-US" sz="14995" b="1">
                <a:solidFill>
                  <a:srgbClr val="E4EA71"/>
                </a:solidFill>
                <a:latin typeface="TT Hoves Bold"/>
                <a:ea typeface="TT Hoves Bold"/>
                <a:cs typeface="TT Hoves Bold"/>
                <a:sym typeface="TT Hoves Bold"/>
              </a:rPr>
              <a:t>TRAVEL PLAN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97491" y="679450"/>
            <a:ext cx="168664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E4EA71"/>
                </a:solidFill>
                <a:latin typeface="TT Hoves Bold"/>
                <a:ea typeface="TT Hoves Bold"/>
                <a:cs typeface="TT Hoves Bold"/>
                <a:sym typeface="TT Hoves Bold"/>
              </a:rPr>
              <a:t>HOME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02847" y="679450"/>
            <a:ext cx="168664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ABOUT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03866" y="679450"/>
            <a:ext cx="168664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SERVICE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5443788" y="9077558"/>
            <a:ext cx="1815512" cy="663109"/>
            <a:chOff x="0" y="0"/>
            <a:chExt cx="478160" cy="17464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78160" cy="174646"/>
            </a:xfrm>
            <a:custGeom>
              <a:avLst/>
              <a:gdLst/>
              <a:ahLst/>
              <a:cxnLst/>
              <a:rect l="l" t="t" r="r" b="b"/>
              <a:pathLst>
                <a:path w="478160" h="174646">
                  <a:moveTo>
                    <a:pt x="87323" y="0"/>
                  </a:moveTo>
                  <a:lnTo>
                    <a:pt x="390836" y="0"/>
                  </a:lnTo>
                  <a:cubicBezTo>
                    <a:pt x="413996" y="0"/>
                    <a:pt x="436207" y="9200"/>
                    <a:pt x="452583" y="25576"/>
                  </a:cubicBezTo>
                  <a:cubicBezTo>
                    <a:pt x="468959" y="41953"/>
                    <a:pt x="478160" y="64164"/>
                    <a:pt x="478160" y="87323"/>
                  </a:cubicBezTo>
                  <a:lnTo>
                    <a:pt x="478160" y="87323"/>
                  </a:lnTo>
                  <a:cubicBezTo>
                    <a:pt x="478160" y="110483"/>
                    <a:pt x="468959" y="132694"/>
                    <a:pt x="452583" y="149070"/>
                  </a:cubicBezTo>
                  <a:cubicBezTo>
                    <a:pt x="436207" y="165446"/>
                    <a:pt x="413996" y="174646"/>
                    <a:pt x="390836" y="174646"/>
                  </a:cubicBezTo>
                  <a:lnTo>
                    <a:pt x="87323" y="174646"/>
                  </a:lnTo>
                  <a:cubicBezTo>
                    <a:pt x="64164" y="174646"/>
                    <a:pt x="41953" y="165446"/>
                    <a:pt x="25576" y="149070"/>
                  </a:cubicBezTo>
                  <a:cubicBezTo>
                    <a:pt x="9200" y="132694"/>
                    <a:pt x="0" y="110483"/>
                    <a:pt x="0" y="87323"/>
                  </a:cubicBezTo>
                  <a:lnTo>
                    <a:pt x="0" y="87323"/>
                  </a:lnTo>
                  <a:cubicBezTo>
                    <a:pt x="0" y="64164"/>
                    <a:pt x="9200" y="41953"/>
                    <a:pt x="25576" y="25576"/>
                  </a:cubicBezTo>
                  <a:cubicBezTo>
                    <a:pt x="41953" y="9200"/>
                    <a:pt x="64164" y="0"/>
                    <a:pt x="87323" y="0"/>
                  </a:cubicBezTo>
                  <a:close/>
                </a:path>
              </a:pathLst>
            </a:custGeom>
            <a:solidFill>
              <a:srgbClr val="E4EA71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478160" cy="222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572656" y="9210675"/>
            <a:ext cx="168664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NEXT &gt;</a:t>
            </a:r>
          </a:p>
        </p:txBody>
      </p:sp>
      <p:sp>
        <p:nvSpPr>
          <p:cNvPr id="19" name="Freeform 19"/>
          <p:cNvSpPr/>
          <p:nvPr/>
        </p:nvSpPr>
        <p:spPr>
          <a:xfrm rot="-9334977">
            <a:off x="11951020" y="2909357"/>
            <a:ext cx="10199150" cy="5057536"/>
          </a:xfrm>
          <a:custGeom>
            <a:avLst/>
            <a:gdLst/>
            <a:ahLst/>
            <a:cxnLst/>
            <a:rect l="l" t="t" r="r" b="b"/>
            <a:pathLst>
              <a:path w="10199150" h="5057536">
                <a:moveTo>
                  <a:pt x="0" y="0"/>
                </a:moveTo>
                <a:lnTo>
                  <a:pt x="10199149" y="0"/>
                </a:lnTo>
                <a:lnTo>
                  <a:pt x="10199149" y="5057537"/>
                </a:lnTo>
                <a:lnTo>
                  <a:pt x="0" y="5057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-2878234" y="2909357"/>
            <a:ext cx="10199150" cy="5057536"/>
          </a:xfrm>
          <a:custGeom>
            <a:avLst/>
            <a:gdLst/>
            <a:ahLst/>
            <a:cxnLst/>
            <a:rect l="l" t="t" r="r" b="b"/>
            <a:pathLst>
              <a:path w="10199150" h="5057536">
                <a:moveTo>
                  <a:pt x="0" y="0"/>
                </a:moveTo>
                <a:lnTo>
                  <a:pt x="10199149" y="0"/>
                </a:lnTo>
                <a:lnTo>
                  <a:pt x="10199149" y="5057537"/>
                </a:lnTo>
                <a:lnTo>
                  <a:pt x="0" y="5057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3551349" y="4579116"/>
            <a:ext cx="11892439" cy="1414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1" dirty="0">
                <a:solidFill>
                  <a:srgbClr val="17496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https://traveltriangle.com/tour-packages/Singapoor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2957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69607" y="9077558"/>
            <a:ext cx="1873262" cy="663109"/>
            <a:chOff x="0" y="0"/>
            <a:chExt cx="493370" cy="1746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3370" cy="174646"/>
            </a:xfrm>
            <a:custGeom>
              <a:avLst/>
              <a:gdLst/>
              <a:ahLst/>
              <a:cxnLst/>
              <a:rect l="l" t="t" r="r" b="b"/>
              <a:pathLst>
                <a:path w="493370" h="174646">
                  <a:moveTo>
                    <a:pt x="87323" y="0"/>
                  </a:moveTo>
                  <a:lnTo>
                    <a:pt x="406047" y="0"/>
                  </a:lnTo>
                  <a:cubicBezTo>
                    <a:pt x="429206" y="0"/>
                    <a:pt x="451417" y="9200"/>
                    <a:pt x="467793" y="25576"/>
                  </a:cubicBezTo>
                  <a:cubicBezTo>
                    <a:pt x="484169" y="41953"/>
                    <a:pt x="493370" y="64164"/>
                    <a:pt x="493370" y="87323"/>
                  </a:cubicBezTo>
                  <a:lnTo>
                    <a:pt x="493370" y="87323"/>
                  </a:lnTo>
                  <a:cubicBezTo>
                    <a:pt x="493370" y="110483"/>
                    <a:pt x="484169" y="132694"/>
                    <a:pt x="467793" y="149070"/>
                  </a:cubicBezTo>
                  <a:cubicBezTo>
                    <a:pt x="451417" y="165446"/>
                    <a:pt x="429206" y="174646"/>
                    <a:pt x="406047" y="174646"/>
                  </a:cubicBezTo>
                  <a:lnTo>
                    <a:pt x="87323" y="174646"/>
                  </a:lnTo>
                  <a:cubicBezTo>
                    <a:pt x="64164" y="174646"/>
                    <a:pt x="41953" y="165446"/>
                    <a:pt x="25576" y="149070"/>
                  </a:cubicBezTo>
                  <a:cubicBezTo>
                    <a:pt x="9200" y="132694"/>
                    <a:pt x="0" y="110483"/>
                    <a:pt x="0" y="87323"/>
                  </a:cubicBezTo>
                  <a:lnTo>
                    <a:pt x="0" y="87323"/>
                  </a:lnTo>
                  <a:cubicBezTo>
                    <a:pt x="0" y="64164"/>
                    <a:pt x="9200" y="41953"/>
                    <a:pt x="25576" y="25576"/>
                  </a:cubicBezTo>
                  <a:cubicBezTo>
                    <a:pt x="41953" y="9200"/>
                    <a:pt x="64164" y="0"/>
                    <a:pt x="87323" y="0"/>
                  </a:cubicBezTo>
                  <a:close/>
                </a:path>
              </a:pathLst>
            </a:custGeom>
            <a:solidFill>
              <a:srgbClr val="E4EA7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3370" cy="222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443788" y="9127678"/>
            <a:ext cx="1815512" cy="663109"/>
            <a:chOff x="0" y="0"/>
            <a:chExt cx="478160" cy="1746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8160" cy="174646"/>
            </a:xfrm>
            <a:custGeom>
              <a:avLst/>
              <a:gdLst/>
              <a:ahLst/>
              <a:cxnLst/>
              <a:rect l="l" t="t" r="r" b="b"/>
              <a:pathLst>
                <a:path w="478160" h="174646">
                  <a:moveTo>
                    <a:pt x="87323" y="0"/>
                  </a:moveTo>
                  <a:lnTo>
                    <a:pt x="390836" y="0"/>
                  </a:lnTo>
                  <a:cubicBezTo>
                    <a:pt x="413996" y="0"/>
                    <a:pt x="436207" y="9200"/>
                    <a:pt x="452583" y="25576"/>
                  </a:cubicBezTo>
                  <a:cubicBezTo>
                    <a:pt x="468959" y="41953"/>
                    <a:pt x="478160" y="64164"/>
                    <a:pt x="478160" y="87323"/>
                  </a:cubicBezTo>
                  <a:lnTo>
                    <a:pt x="478160" y="87323"/>
                  </a:lnTo>
                  <a:cubicBezTo>
                    <a:pt x="478160" y="110483"/>
                    <a:pt x="468959" y="132694"/>
                    <a:pt x="452583" y="149070"/>
                  </a:cubicBezTo>
                  <a:cubicBezTo>
                    <a:pt x="436207" y="165446"/>
                    <a:pt x="413996" y="174646"/>
                    <a:pt x="390836" y="174646"/>
                  </a:cubicBezTo>
                  <a:lnTo>
                    <a:pt x="87323" y="174646"/>
                  </a:lnTo>
                  <a:cubicBezTo>
                    <a:pt x="64164" y="174646"/>
                    <a:pt x="41953" y="165446"/>
                    <a:pt x="25576" y="149070"/>
                  </a:cubicBezTo>
                  <a:cubicBezTo>
                    <a:pt x="9200" y="132694"/>
                    <a:pt x="0" y="110483"/>
                    <a:pt x="0" y="87323"/>
                  </a:cubicBezTo>
                  <a:lnTo>
                    <a:pt x="0" y="87323"/>
                  </a:lnTo>
                  <a:cubicBezTo>
                    <a:pt x="0" y="64164"/>
                    <a:pt x="9200" y="41953"/>
                    <a:pt x="25576" y="25576"/>
                  </a:cubicBezTo>
                  <a:cubicBezTo>
                    <a:pt x="41953" y="9200"/>
                    <a:pt x="64164" y="0"/>
                    <a:pt x="87323" y="0"/>
                  </a:cubicBezTo>
                  <a:close/>
                </a:path>
              </a:pathLst>
            </a:custGeom>
            <a:solidFill>
              <a:srgbClr val="E4EA7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78160" cy="222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96484" y="739467"/>
            <a:ext cx="15695031" cy="8240346"/>
            <a:chOff x="0" y="0"/>
            <a:chExt cx="4133671" cy="19465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33671" cy="1946508"/>
            </a:xfrm>
            <a:custGeom>
              <a:avLst/>
              <a:gdLst/>
              <a:ahLst/>
              <a:cxnLst/>
              <a:rect l="l" t="t" r="r" b="b"/>
              <a:pathLst>
                <a:path w="4133671" h="1946508">
                  <a:moveTo>
                    <a:pt x="16771" y="0"/>
                  </a:moveTo>
                  <a:lnTo>
                    <a:pt x="4116900" y="0"/>
                  </a:lnTo>
                  <a:cubicBezTo>
                    <a:pt x="4126162" y="0"/>
                    <a:pt x="4133671" y="7509"/>
                    <a:pt x="4133671" y="16771"/>
                  </a:cubicBezTo>
                  <a:lnTo>
                    <a:pt x="4133671" y="1929736"/>
                  </a:lnTo>
                  <a:cubicBezTo>
                    <a:pt x="4133671" y="1934184"/>
                    <a:pt x="4131904" y="1938450"/>
                    <a:pt x="4128759" y="1941595"/>
                  </a:cubicBezTo>
                  <a:cubicBezTo>
                    <a:pt x="4125614" y="1944741"/>
                    <a:pt x="4121348" y="1946508"/>
                    <a:pt x="4116900" y="1946508"/>
                  </a:cubicBezTo>
                  <a:lnTo>
                    <a:pt x="16771" y="1946508"/>
                  </a:lnTo>
                  <a:cubicBezTo>
                    <a:pt x="7509" y="1946508"/>
                    <a:pt x="0" y="1938999"/>
                    <a:pt x="0" y="1929736"/>
                  </a:cubicBezTo>
                  <a:lnTo>
                    <a:pt x="0" y="16771"/>
                  </a:lnTo>
                  <a:cubicBezTo>
                    <a:pt x="0" y="7509"/>
                    <a:pt x="7509" y="0"/>
                    <a:pt x="16771" y="0"/>
                  </a:cubicBezTo>
                  <a:close/>
                </a:path>
              </a:pathLst>
            </a:custGeom>
            <a:solidFill>
              <a:srgbClr val="17496B">
                <a:alpha val="65882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133671" cy="1994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5572656" y="9210675"/>
            <a:ext cx="168664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NEXT &gt;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9210675"/>
            <a:ext cx="168664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&lt; BACK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88906" y="2945737"/>
            <a:ext cx="14110188" cy="5620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6784" lvl="1" indent="-323392" algn="l">
              <a:lnSpc>
                <a:spcPts val="7489"/>
              </a:lnSpc>
              <a:buFont typeface="Arial"/>
              <a:buChar char="•"/>
            </a:pPr>
            <a:r>
              <a:rPr lang="en-US" sz="3000" spc="32" dirty="0">
                <a:solidFill>
                  <a:srgbClr val="FFFFFF"/>
                </a:solidFill>
                <a:latin typeface="Times New Roman" panose="02020603050405020304" pitchFamily="18" charset="0"/>
                <a:ea typeface="TT Hoves"/>
                <a:cs typeface="Times New Roman" panose="02020603050405020304" pitchFamily="18" charset="0"/>
                <a:sym typeface="TT Hoves"/>
              </a:rPr>
              <a:t>Travel Triangle is an online platform for booking customizable holiday packages planning something.</a:t>
            </a:r>
          </a:p>
          <a:p>
            <a:pPr marL="646784" lvl="1" indent="-323392" algn="l">
              <a:lnSpc>
                <a:spcPts val="7489"/>
              </a:lnSpc>
              <a:buFont typeface="Arial"/>
              <a:buChar char="•"/>
            </a:pPr>
            <a:r>
              <a:rPr lang="en-US" sz="3000" spc="32" dirty="0">
                <a:solidFill>
                  <a:srgbClr val="FFFFFF"/>
                </a:solidFill>
                <a:latin typeface="Times New Roman" panose="02020603050405020304" pitchFamily="18" charset="0"/>
                <a:ea typeface="TT Hoves"/>
                <a:cs typeface="Times New Roman" panose="02020603050405020304" pitchFamily="18" charset="0"/>
                <a:sym typeface="TT Hoves"/>
              </a:rPr>
              <a:t> It connects travelers with verified local travel agents for better planning.</a:t>
            </a:r>
          </a:p>
          <a:p>
            <a:pPr marL="646784" lvl="1" indent="-323392" algn="l">
              <a:lnSpc>
                <a:spcPts val="7489"/>
              </a:lnSpc>
              <a:buFont typeface="Arial"/>
              <a:buChar char="•"/>
            </a:pPr>
            <a:r>
              <a:rPr lang="en-US" sz="3000" spc="32" dirty="0">
                <a:solidFill>
                  <a:srgbClr val="FFFFFF"/>
                </a:solidFill>
                <a:latin typeface="Times New Roman" panose="02020603050405020304" pitchFamily="18" charset="0"/>
                <a:ea typeface="TT Hoves"/>
                <a:cs typeface="Times New Roman" panose="02020603050405020304" pitchFamily="18" charset="0"/>
                <a:sym typeface="TT Hoves"/>
              </a:rPr>
              <a:t> Offers a wide range of tours: family, honeymoon, adventure, beach, luxury etc.</a:t>
            </a:r>
          </a:p>
          <a:p>
            <a:pPr marL="646784" lvl="1" indent="-323392" algn="l">
              <a:lnSpc>
                <a:spcPts val="7489"/>
              </a:lnSpc>
              <a:buFont typeface="Arial"/>
              <a:buChar char="•"/>
            </a:pPr>
            <a:r>
              <a:rPr lang="en-US" sz="3000" spc="32" dirty="0">
                <a:solidFill>
                  <a:srgbClr val="FFFFFF"/>
                </a:solidFill>
                <a:latin typeface="Times New Roman" panose="02020603050405020304" pitchFamily="18" charset="0"/>
                <a:ea typeface="TT Hoves"/>
                <a:cs typeface="Times New Roman" panose="02020603050405020304" pitchFamily="18" charset="0"/>
                <a:sym typeface="TT Hoves"/>
              </a:rPr>
              <a:t>Provides transparent pricing with discounts and seasonal offers to best place.</a:t>
            </a:r>
          </a:p>
          <a:p>
            <a:pPr marL="646784" lvl="1" indent="-323392" algn="l">
              <a:lnSpc>
                <a:spcPts val="7489"/>
              </a:lnSpc>
              <a:buFont typeface="Arial"/>
              <a:buChar char="•"/>
            </a:pPr>
            <a:r>
              <a:rPr lang="en-US" sz="3000" spc="32" dirty="0">
                <a:solidFill>
                  <a:srgbClr val="FFFFFF"/>
                </a:solidFill>
                <a:latin typeface="Times New Roman" panose="02020603050405020304" pitchFamily="18" charset="0"/>
                <a:ea typeface="TT Hoves"/>
                <a:cs typeface="Times New Roman" panose="02020603050405020304" pitchFamily="18" charset="0"/>
                <a:sym typeface="TT Hoves"/>
              </a:rPr>
              <a:t>Users can filter by destination, duration, budget, and tour type.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457075" y="1276727"/>
            <a:ext cx="9929547" cy="1510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320"/>
              </a:lnSpc>
            </a:pPr>
            <a:r>
              <a:rPr lang="en-US" sz="8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</p:spTree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69607" y="9077558"/>
            <a:ext cx="1873262" cy="663109"/>
            <a:chOff x="0" y="0"/>
            <a:chExt cx="493370" cy="1746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3370" cy="174646"/>
            </a:xfrm>
            <a:custGeom>
              <a:avLst/>
              <a:gdLst/>
              <a:ahLst/>
              <a:cxnLst/>
              <a:rect l="l" t="t" r="r" b="b"/>
              <a:pathLst>
                <a:path w="493370" h="174646">
                  <a:moveTo>
                    <a:pt x="87323" y="0"/>
                  </a:moveTo>
                  <a:lnTo>
                    <a:pt x="406047" y="0"/>
                  </a:lnTo>
                  <a:cubicBezTo>
                    <a:pt x="429206" y="0"/>
                    <a:pt x="451417" y="9200"/>
                    <a:pt x="467793" y="25576"/>
                  </a:cubicBezTo>
                  <a:cubicBezTo>
                    <a:pt x="484169" y="41953"/>
                    <a:pt x="493370" y="64164"/>
                    <a:pt x="493370" y="87323"/>
                  </a:cubicBezTo>
                  <a:lnTo>
                    <a:pt x="493370" y="87323"/>
                  </a:lnTo>
                  <a:cubicBezTo>
                    <a:pt x="493370" y="110483"/>
                    <a:pt x="484169" y="132694"/>
                    <a:pt x="467793" y="149070"/>
                  </a:cubicBezTo>
                  <a:cubicBezTo>
                    <a:pt x="451417" y="165446"/>
                    <a:pt x="429206" y="174646"/>
                    <a:pt x="406047" y="174646"/>
                  </a:cubicBezTo>
                  <a:lnTo>
                    <a:pt x="87323" y="174646"/>
                  </a:lnTo>
                  <a:cubicBezTo>
                    <a:pt x="64164" y="174646"/>
                    <a:pt x="41953" y="165446"/>
                    <a:pt x="25576" y="149070"/>
                  </a:cubicBezTo>
                  <a:cubicBezTo>
                    <a:pt x="9200" y="132694"/>
                    <a:pt x="0" y="110483"/>
                    <a:pt x="0" y="87323"/>
                  </a:cubicBezTo>
                  <a:lnTo>
                    <a:pt x="0" y="87323"/>
                  </a:lnTo>
                  <a:cubicBezTo>
                    <a:pt x="0" y="64164"/>
                    <a:pt x="9200" y="41953"/>
                    <a:pt x="25576" y="25576"/>
                  </a:cubicBezTo>
                  <a:cubicBezTo>
                    <a:pt x="41953" y="9200"/>
                    <a:pt x="64164" y="0"/>
                    <a:pt x="87323" y="0"/>
                  </a:cubicBezTo>
                  <a:close/>
                </a:path>
              </a:pathLst>
            </a:custGeom>
            <a:solidFill>
              <a:srgbClr val="E4EA7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3370" cy="222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443788" y="9077558"/>
            <a:ext cx="1815512" cy="663109"/>
            <a:chOff x="0" y="0"/>
            <a:chExt cx="478160" cy="1746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8160" cy="174646"/>
            </a:xfrm>
            <a:custGeom>
              <a:avLst/>
              <a:gdLst/>
              <a:ahLst/>
              <a:cxnLst/>
              <a:rect l="l" t="t" r="r" b="b"/>
              <a:pathLst>
                <a:path w="478160" h="174646">
                  <a:moveTo>
                    <a:pt x="87323" y="0"/>
                  </a:moveTo>
                  <a:lnTo>
                    <a:pt x="390836" y="0"/>
                  </a:lnTo>
                  <a:cubicBezTo>
                    <a:pt x="413996" y="0"/>
                    <a:pt x="436207" y="9200"/>
                    <a:pt x="452583" y="25576"/>
                  </a:cubicBezTo>
                  <a:cubicBezTo>
                    <a:pt x="468959" y="41953"/>
                    <a:pt x="478160" y="64164"/>
                    <a:pt x="478160" y="87323"/>
                  </a:cubicBezTo>
                  <a:lnTo>
                    <a:pt x="478160" y="87323"/>
                  </a:lnTo>
                  <a:cubicBezTo>
                    <a:pt x="478160" y="110483"/>
                    <a:pt x="468959" y="132694"/>
                    <a:pt x="452583" y="149070"/>
                  </a:cubicBezTo>
                  <a:cubicBezTo>
                    <a:pt x="436207" y="165446"/>
                    <a:pt x="413996" y="174646"/>
                    <a:pt x="390836" y="174646"/>
                  </a:cubicBezTo>
                  <a:lnTo>
                    <a:pt x="87323" y="174646"/>
                  </a:lnTo>
                  <a:cubicBezTo>
                    <a:pt x="64164" y="174646"/>
                    <a:pt x="41953" y="165446"/>
                    <a:pt x="25576" y="149070"/>
                  </a:cubicBezTo>
                  <a:cubicBezTo>
                    <a:pt x="9200" y="132694"/>
                    <a:pt x="0" y="110483"/>
                    <a:pt x="0" y="87323"/>
                  </a:cubicBezTo>
                  <a:lnTo>
                    <a:pt x="0" y="87323"/>
                  </a:lnTo>
                  <a:cubicBezTo>
                    <a:pt x="0" y="64164"/>
                    <a:pt x="9200" y="41953"/>
                    <a:pt x="25576" y="25576"/>
                  </a:cubicBezTo>
                  <a:cubicBezTo>
                    <a:pt x="41953" y="9200"/>
                    <a:pt x="64164" y="0"/>
                    <a:pt x="87323" y="0"/>
                  </a:cubicBezTo>
                  <a:close/>
                </a:path>
              </a:pathLst>
            </a:custGeom>
            <a:solidFill>
              <a:srgbClr val="E4EA7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78160" cy="222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90410" y="996196"/>
            <a:ext cx="16016527" cy="7810123"/>
            <a:chOff x="0" y="0"/>
            <a:chExt cx="4218345" cy="20569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18344" cy="2056987"/>
            </a:xfrm>
            <a:custGeom>
              <a:avLst/>
              <a:gdLst/>
              <a:ahLst/>
              <a:cxnLst/>
              <a:rect l="l" t="t" r="r" b="b"/>
              <a:pathLst>
                <a:path w="4218344" h="2056987">
                  <a:moveTo>
                    <a:pt x="16435" y="0"/>
                  </a:moveTo>
                  <a:lnTo>
                    <a:pt x="4201910" y="0"/>
                  </a:lnTo>
                  <a:cubicBezTo>
                    <a:pt x="4210986" y="0"/>
                    <a:pt x="4218344" y="7358"/>
                    <a:pt x="4218344" y="16435"/>
                  </a:cubicBezTo>
                  <a:lnTo>
                    <a:pt x="4218344" y="2040552"/>
                  </a:lnTo>
                  <a:cubicBezTo>
                    <a:pt x="4218344" y="2049629"/>
                    <a:pt x="4210986" y="2056987"/>
                    <a:pt x="4201910" y="2056987"/>
                  </a:cubicBezTo>
                  <a:lnTo>
                    <a:pt x="16435" y="2056987"/>
                  </a:lnTo>
                  <a:cubicBezTo>
                    <a:pt x="7358" y="2056987"/>
                    <a:pt x="0" y="2049629"/>
                    <a:pt x="0" y="2040552"/>
                  </a:cubicBezTo>
                  <a:lnTo>
                    <a:pt x="0" y="16435"/>
                  </a:lnTo>
                  <a:cubicBezTo>
                    <a:pt x="0" y="7358"/>
                    <a:pt x="7358" y="0"/>
                    <a:pt x="16435" y="0"/>
                  </a:cubicBezTo>
                  <a:close/>
                </a:path>
              </a:pathLst>
            </a:custGeom>
            <a:solidFill>
              <a:srgbClr val="17496B">
                <a:alpha val="65882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218345" cy="2104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5572656" y="9210675"/>
            <a:ext cx="168664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NEXT &gt;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9210675"/>
            <a:ext cx="168664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&lt; BACK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66665" y="2314549"/>
            <a:ext cx="15830925" cy="6261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0700" lvl="1" indent="-300350" algn="l">
              <a:lnSpc>
                <a:spcPts val="6955"/>
              </a:lnSpc>
              <a:buFont typeface="Arial"/>
              <a:buChar char="•"/>
            </a:pPr>
            <a:r>
              <a:rPr lang="en-US" sz="3000" spc="30" dirty="0">
                <a:solidFill>
                  <a:srgbClr val="FFFFFF"/>
                </a:solidFill>
                <a:latin typeface="Times New Roman" panose="02020603050405020304" pitchFamily="18" charset="0"/>
                <a:ea typeface="TT Hoves"/>
                <a:cs typeface="Times New Roman" panose="02020603050405020304" pitchFamily="18" charset="0"/>
                <a:sym typeface="TT Hoves"/>
              </a:rPr>
              <a:t>The objective of this project is to perform exploratory data analysis (EDA) on a tour package dataset to:</a:t>
            </a:r>
          </a:p>
          <a:p>
            <a:pPr marL="600700" lvl="1" indent="-300350" algn="l">
              <a:lnSpc>
                <a:spcPts val="3895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Times New Roman" panose="02020603050405020304" pitchFamily="18" charset="0"/>
                <a:ea typeface="TT Hoves"/>
                <a:cs typeface="Times New Roman" panose="02020603050405020304" pitchFamily="18" charset="0"/>
                <a:sym typeface="TT Hoves"/>
              </a:rPr>
              <a:t>Understand trends in travel durations, prices, and discounts.</a:t>
            </a:r>
          </a:p>
          <a:p>
            <a:pPr algn="l">
              <a:lnSpc>
                <a:spcPts val="3895"/>
              </a:lnSpc>
            </a:pPr>
            <a:endParaRPr lang="en-US" sz="3000" dirty="0">
              <a:solidFill>
                <a:srgbClr val="FFFFFF"/>
              </a:solidFill>
              <a:latin typeface="Times New Roman" panose="02020603050405020304" pitchFamily="18" charset="0"/>
              <a:ea typeface="TT Hoves"/>
              <a:cs typeface="Times New Roman" panose="02020603050405020304" pitchFamily="18" charset="0"/>
              <a:sym typeface="TT Hoves"/>
            </a:endParaRPr>
          </a:p>
          <a:p>
            <a:pPr marL="600700" lvl="1" indent="-300350" algn="l">
              <a:lnSpc>
                <a:spcPts val="3895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Times New Roman" panose="02020603050405020304" pitchFamily="18" charset="0"/>
                <a:ea typeface="TT Hoves"/>
                <a:cs typeface="Times New Roman" panose="02020603050405020304" pitchFamily="18" charset="0"/>
                <a:sym typeface="TT Hoves"/>
              </a:rPr>
              <a:t>Identify the most popular tour types and top travel destinations.</a:t>
            </a:r>
          </a:p>
          <a:p>
            <a:pPr algn="l">
              <a:lnSpc>
                <a:spcPts val="3895"/>
              </a:lnSpc>
            </a:pPr>
            <a:endParaRPr lang="en-US" sz="3000" dirty="0">
              <a:solidFill>
                <a:srgbClr val="FFFFFF"/>
              </a:solidFill>
              <a:latin typeface="Times New Roman" panose="02020603050405020304" pitchFamily="18" charset="0"/>
              <a:ea typeface="TT Hoves"/>
              <a:cs typeface="Times New Roman" panose="02020603050405020304" pitchFamily="18" charset="0"/>
              <a:sym typeface="TT Hoves"/>
            </a:endParaRPr>
          </a:p>
          <a:p>
            <a:pPr marL="600700" lvl="1" indent="-300350" algn="l">
              <a:lnSpc>
                <a:spcPts val="3895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Times New Roman" panose="02020603050405020304" pitchFamily="18" charset="0"/>
                <a:ea typeface="TT Hoves"/>
                <a:cs typeface="Times New Roman" panose="02020603050405020304" pitchFamily="18" charset="0"/>
                <a:sym typeface="TT Hoves"/>
              </a:rPr>
              <a:t>Analyze savings patterns offered to customers across different packages.</a:t>
            </a:r>
          </a:p>
          <a:p>
            <a:pPr algn="l">
              <a:lnSpc>
                <a:spcPts val="3895"/>
              </a:lnSpc>
            </a:pPr>
            <a:endParaRPr lang="en-US" sz="3000" dirty="0">
              <a:solidFill>
                <a:srgbClr val="FFFFFF"/>
              </a:solidFill>
              <a:latin typeface="Times New Roman" panose="02020603050405020304" pitchFamily="18" charset="0"/>
              <a:ea typeface="TT Hoves"/>
              <a:cs typeface="Times New Roman" panose="02020603050405020304" pitchFamily="18" charset="0"/>
              <a:sym typeface="TT Hoves"/>
            </a:endParaRPr>
          </a:p>
          <a:p>
            <a:pPr marL="600700" lvl="1" indent="-300350" algn="l">
              <a:lnSpc>
                <a:spcPts val="3895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Times New Roman" panose="02020603050405020304" pitchFamily="18" charset="0"/>
                <a:ea typeface="TT Hoves"/>
                <a:cs typeface="Times New Roman" panose="02020603050405020304" pitchFamily="18" charset="0"/>
                <a:sym typeface="TT Hoves"/>
              </a:rPr>
              <a:t>Detect and treat outliers to improve data quality and insight accuracy.</a:t>
            </a:r>
          </a:p>
          <a:p>
            <a:pPr algn="l">
              <a:lnSpc>
                <a:spcPts val="3895"/>
              </a:lnSpc>
            </a:pPr>
            <a:endParaRPr lang="en-US" sz="3000" dirty="0">
              <a:solidFill>
                <a:srgbClr val="FFFFFF"/>
              </a:solidFill>
              <a:latin typeface="Times New Roman" panose="02020603050405020304" pitchFamily="18" charset="0"/>
              <a:ea typeface="TT Hoves"/>
              <a:cs typeface="Times New Roman" panose="02020603050405020304" pitchFamily="18" charset="0"/>
              <a:sym typeface="TT Hoves"/>
            </a:endParaRPr>
          </a:p>
          <a:p>
            <a:pPr marL="600700" lvl="1" indent="-300350" algn="l">
              <a:lnSpc>
                <a:spcPts val="3895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Times New Roman" panose="02020603050405020304" pitchFamily="18" charset="0"/>
                <a:ea typeface="TT Hoves"/>
                <a:cs typeface="Times New Roman" panose="02020603050405020304" pitchFamily="18" charset="0"/>
                <a:sym typeface="TT Hoves"/>
              </a:rPr>
              <a:t>Support data-driven decision making for tourism companies and customers</a:t>
            </a:r>
            <a:r>
              <a:rPr lang="en-US" sz="2782" dirty="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457075" y="1276727"/>
            <a:ext cx="7078954" cy="1510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20"/>
              </a:lnSpc>
            </a:pPr>
            <a:r>
              <a:rPr lang="en-US" sz="88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69607" y="9077558"/>
            <a:ext cx="1873262" cy="663109"/>
            <a:chOff x="0" y="0"/>
            <a:chExt cx="493370" cy="1746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3370" cy="174646"/>
            </a:xfrm>
            <a:custGeom>
              <a:avLst/>
              <a:gdLst/>
              <a:ahLst/>
              <a:cxnLst/>
              <a:rect l="l" t="t" r="r" b="b"/>
              <a:pathLst>
                <a:path w="493370" h="174646">
                  <a:moveTo>
                    <a:pt x="87323" y="0"/>
                  </a:moveTo>
                  <a:lnTo>
                    <a:pt x="406047" y="0"/>
                  </a:lnTo>
                  <a:cubicBezTo>
                    <a:pt x="429206" y="0"/>
                    <a:pt x="451417" y="9200"/>
                    <a:pt x="467793" y="25576"/>
                  </a:cubicBezTo>
                  <a:cubicBezTo>
                    <a:pt x="484169" y="41953"/>
                    <a:pt x="493370" y="64164"/>
                    <a:pt x="493370" y="87323"/>
                  </a:cubicBezTo>
                  <a:lnTo>
                    <a:pt x="493370" y="87323"/>
                  </a:lnTo>
                  <a:cubicBezTo>
                    <a:pt x="493370" y="110483"/>
                    <a:pt x="484169" y="132694"/>
                    <a:pt x="467793" y="149070"/>
                  </a:cubicBezTo>
                  <a:cubicBezTo>
                    <a:pt x="451417" y="165446"/>
                    <a:pt x="429206" y="174646"/>
                    <a:pt x="406047" y="174646"/>
                  </a:cubicBezTo>
                  <a:lnTo>
                    <a:pt x="87323" y="174646"/>
                  </a:lnTo>
                  <a:cubicBezTo>
                    <a:pt x="64164" y="174646"/>
                    <a:pt x="41953" y="165446"/>
                    <a:pt x="25576" y="149070"/>
                  </a:cubicBezTo>
                  <a:cubicBezTo>
                    <a:pt x="9200" y="132694"/>
                    <a:pt x="0" y="110483"/>
                    <a:pt x="0" y="87323"/>
                  </a:cubicBezTo>
                  <a:lnTo>
                    <a:pt x="0" y="87323"/>
                  </a:lnTo>
                  <a:cubicBezTo>
                    <a:pt x="0" y="64164"/>
                    <a:pt x="9200" y="41953"/>
                    <a:pt x="25576" y="25576"/>
                  </a:cubicBezTo>
                  <a:cubicBezTo>
                    <a:pt x="41953" y="9200"/>
                    <a:pt x="64164" y="0"/>
                    <a:pt x="87323" y="0"/>
                  </a:cubicBezTo>
                  <a:close/>
                </a:path>
              </a:pathLst>
            </a:custGeom>
            <a:solidFill>
              <a:srgbClr val="E4EA7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3370" cy="222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443788" y="9077558"/>
            <a:ext cx="1815512" cy="663109"/>
            <a:chOff x="0" y="0"/>
            <a:chExt cx="478160" cy="1746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8160" cy="174646"/>
            </a:xfrm>
            <a:custGeom>
              <a:avLst/>
              <a:gdLst/>
              <a:ahLst/>
              <a:cxnLst/>
              <a:rect l="l" t="t" r="r" b="b"/>
              <a:pathLst>
                <a:path w="478160" h="174646">
                  <a:moveTo>
                    <a:pt x="87323" y="0"/>
                  </a:moveTo>
                  <a:lnTo>
                    <a:pt x="390836" y="0"/>
                  </a:lnTo>
                  <a:cubicBezTo>
                    <a:pt x="413996" y="0"/>
                    <a:pt x="436207" y="9200"/>
                    <a:pt x="452583" y="25576"/>
                  </a:cubicBezTo>
                  <a:cubicBezTo>
                    <a:pt x="468959" y="41953"/>
                    <a:pt x="478160" y="64164"/>
                    <a:pt x="478160" y="87323"/>
                  </a:cubicBezTo>
                  <a:lnTo>
                    <a:pt x="478160" y="87323"/>
                  </a:lnTo>
                  <a:cubicBezTo>
                    <a:pt x="478160" y="110483"/>
                    <a:pt x="468959" y="132694"/>
                    <a:pt x="452583" y="149070"/>
                  </a:cubicBezTo>
                  <a:cubicBezTo>
                    <a:pt x="436207" y="165446"/>
                    <a:pt x="413996" y="174646"/>
                    <a:pt x="390836" y="174646"/>
                  </a:cubicBezTo>
                  <a:lnTo>
                    <a:pt x="87323" y="174646"/>
                  </a:lnTo>
                  <a:cubicBezTo>
                    <a:pt x="64164" y="174646"/>
                    <a:pt x="41953" y="165446"/>
                    <a:pt x="25576" y="149070"/>
                  </a:cubicBezTo>
                  <a:cubicBezTo>
                    <a:pt x="9200" y="132694"/>
                    <a:pt x="0" y="110483"/>
                    <a:pt x="0" y="87323"/>
                  </a:cubicBezTo>
                  <a:lnTo>
                    <a:pt x="0" y="87323"/>
                  </a:lnTo>
                  <a:cubicBezTo>
                    <a:pt x="0" y="64164"/>
                    <a:pt x="9200" y="41953"/>
                    <a:pt x="25576" y="25576"/>
                  </a:cubicBezTo>
                  <a:cubicBezTo>
                    <a:pt x="41953" y="9200"/>
                    <a:pt x="64164" y="0"/>
                    <a:pt x="87323" y="0"/>
                  </a:cubicBezTo>
                  <a:close/>
                </a:path>
              </a:pathLst>
            </a:custGeom>
            <a:solidFill>
              <a:srgbClr val="E4EA7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78160" cy="222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64053" y="471441"/>
            <a:ext cx="16016527" cy="8380412"/>
            <a:chOff x="0" y="0"/>
            <a:chExt cx="4218345" cy="22071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18344" cy="2207187"/>
            </a:xfrm>
            <a:custGeom>
              <a:avLst/>
              <a:gdLst/>
              <a:ahLst/>
              <a:cxnLst/>
              <a:rect l="l" t="t" r="r" b="b"/>
              <a:pathLst>
                <a:path w="4218344" h="2207187">
                  <a:moveTo>
                    <a:pt x="16435" y="0"/>
                  </a:moveTo>
                  <a:lnTo>
                    <a:pt x="4201910" y="0"/>
                  </a:lnTo>
                  <a:cubicBezTo>
                    <a:pt x="4210986" y="0"/>
                    <a:pt x="4218344" y="7358"/>
                    <a:pt x="4218344" y="16435"/>
                  </a:cubicBezTo>
                  <a:lnTo>
                    <a:pt x="4218344" y="2190752"/>
                  </a:lnTo>
                  <a:cubicBezTo>
                    <a:pt x="4218344" y="2199829"/>
                    <a:pt x="4210986" y="2207187"/>
                    <a:pt x="4201910" y="2207187"/>
                  </a:cubicBezTo>
                  <a:lnTo>
                    <a:pt x="16435" y="2207187"/>
                  </a:lnTo>
                  <a:cubicBezTo>
                    <a:pt x="7358" y="2207187"/>
                    <a:pt x="0" y="2199829"/>
                    <a:pt x="0" y="2190752"/>
                  </a:cubicBezTo>
                  <a:lnTo>
                    <a:pt x="0" y="16435"/>
                  </a:lnTo>
                  <a:cubicBezTo>
                    <a:pt x="0" y="7358"/>
                    <a:pt x="7358" y="0"/>
                    <a:pt x="16435" y="0"/>
                  </a:cubicBezTo>
                  <a:close/>
                </a:path>
              </a:pathLst>
            </a:custGeom>
            <a:solidFill>
              <a:srgbClr val="17496B">
                <a:alpha val="65882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218345" cy="2254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572656" y="9210675"/>
            <a:ext cx="168664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NEXT &gt;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9210675"/>
            <a:ext cx="168664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&lt; BACK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72022" y="521464"/>
            <a:ext cx="8078157" cy="1220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21"/>
              </a:lnSpc>
            </a:pPr>
            <a:r>
              <a:rPr lang="en-US" sz="708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 SCRAPPING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72022" y="1786510"/>
            <a:ext cx="11767778" cy="1388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68"/>
              </a:lnSpc>
            </a:pPr>
            <a:r>
              <a:rPr lang="en-US" sz="2620" b="1" dirty="0">
                <a:solidFill>
                  <a:srgbClr val="F7F7F4"/>
                </a:solidFill>
                <a:latin typeface="TT Hoves Bold"/>
                <a:ea typeface="TT Hoves Bold"/>
                <a:cs typeface="TT Hoves Bold"/>
                <a:sym typeface="TT Hoves Bold"/>
                <a:hlinkClick r:id="rId3"/>
              </a:rPr>
              <a:t>URL:-https://traveltriangle.com/honeymoon-packages/singapore</a:t>
            </a:r>
            <a:endParaRPr lang="en-US" sz="2620" b="1" dirty="0">
              <a:solidFill>
                <a:srgbClr val="F7F7F4"/>
              </a:solidFill>
              <a:latin typeface="TT Hoves Bold"/>
              <a:ea typeface="TT Hoves Bold"/>
              <a:cs typeface="TT Hoves Bold"/>
              <a:sym typeface="TT Hoves Bold"/>
            </a:endParaRPr>
          </a:p>
          <a:p>
            <a:pPr algn="ctr">
              <a:lnSpc>
                <a:spcPts val="3668"/>
              </a:lnSpc>
            </a:pPr>
            <a:r>
              <a:rPr lang="en-US" sz="3000" b="1" dirty="0">
                <a:solidFill>
                  <a:srgbClr val="F7F7F4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Scrapped Data From Travel Triangle</a:t>
            </a:r>
          </a:p>
          <a:p>
            <a:pPr algn="ctr">
              <a:lnSpc>
                <a:spcPts val="3668"/>
              </a:lnSpc>
            </a:pPr>
            <a:endParaRPr lang="en-US" sz="2620" b="1" dirty="0">
              <a:solidFill>
                <a:srgbClr val="F7F7F4"/>
              </a:solidFill>
              <a:latin typeface="TT Hoves Bold"/>
              <a:ea typeface="TT Hoves Bold"/>
              <a:cs typeface="TT Hoves Bold"/>
              <a:sym typeface="TT Hoves Bold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0CBA201-E930-99A0-B681-6818A14D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2868592"/>
            <a:ext cx="11887200" cy="56626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31845" y="-11488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92339" y="9255891"/>
            <a:ext cx="2516314" cy="921771"/>
            <a:chOff x="-173857" y="-47625"/>
            <a:chExt cx="667227" cy="222271"/>
          </a:xfrm>
        </p:grpSpPr>
        <p:sp>
          <p:nvSpPr>
            <p:cNvPr id="4" name="Freeform 4"/>
            <p:cNvSpPr/>
            <p:nvPr/>
          </p:nvSpPr>
          <p:spPr>
            <a:xfrm>
              <a:off x="-173857" y="-16334"/>
              <a:ext cx="493370" cy="137293"/>
            </a:xfrm>
            <a:custGeom>
              <a:avLst/>
              <a:gdLst/>
              <a:ahLst/>
              <a:cxnLst/>
              <a:rect l="l" t="t" r="r" b="b"/>
              <a:pathLst>
                <a:path w="493370" h="174646">
                  <a:moveTo>
                    <a:pt x="87323" y="0"/>
                  </a:moveTo>
                  <a:lnTo>
                    <a:pt x="406047" y="0"/>
                  </a:lnTo>
                  <a:cubicBezTo>
                    <a:pt x="429206" y="0"/>
                    <a:pt x="451417" y="9200"/>
                    <a:pt x="467793" y="25576"/>
                  </a:cubicBezTo>
                  <a:cubicBezTo>
                    <a:pt x="484169" y="41953"/>
                    <a:pt x="493370" y="64164"/>
                    <a:pt x="493370" y="87323"/>
                  </a:cubicBezTo>
                  <a:lnTo>
                    <a:pt x="493370" y="87323"/>
                  </a:lnTo>
                  <a:cubicBezTo>
                    <a:pt x="493370" y="110483"/>
                    <a:pt x="484169" y="132694"/>
                    <a:pt x="467793" y="149070"/>
                  </a:cubicBezTo>
                  <a:cubicBezTo>
                    <a:pt x="451417" y="165446"/>
                    <a:pt x="429206" y="174646"/>
                    <a:pt x="406047" y="174646"/>
                  </a:cubicBezTo>
                  <a:lnTo>
                    <a:pt x="87323" y="174646"/>
                  </a:lnTo>
                  <a:cubicBezTo>
                    <a:pt x="64164" y="174646"/>
                    <a:pt x="41953" y="165446"/>
                    <a:pt x="25576" y="149070"/>
                  </a:cubicBezTo>
                  <a:cubicBezTo>
                    <a:pt x="9200" y="132694"/>
                    <a:pt x="0" y="110483"/>
                    <a:pt x="0" y="87323"/>
                  </a:cubicBezTo>
                  <a:lnTo>
                    <a:pt x="0" y="87323"/>
                  </a:lnTo>
                  <a:cubicBezTo>
                    <a:pt x="0" y="64164"/>
                    <a:pt x="9200" y="41953"/>
                    <a:pt x="25576" y="25576"/>
                  </a:cubicBezTo>
                  <a:cubicBezTo>
                    <a:pt x="41953" y="9200"/>
                    <a:pt x="64164" y="0"/>
                    <a:pt x="87323" y="0"/>
                  </a:cubicBezTo>
                  <a:close/>
                </a:path>
              </a:pathLst>
            </a:custGeom>
            <a:solidFill>
              <a:srgbClr val="E4EA71"/>
            </a:solidFill>
          </p:spPr>
          <p:txBody>
            <a:bodyPr/>
            <a:lstStyle/>
            <a:p>
              <a:r>
                <a:rPr lang="en-IN" sz="2000" dirty="0">
                  <a:latin typeface="TT Hoves" panose="020B0604020202020204" charset="0"/>
                </a:rPr>
                <a:t>      BACK&gt;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3370" cy="222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351544" y="9436718"/>
            <a:ext cx="1815512" cy="663109"/>
            <a:chOff x="0" y="0"/>
            <a:chExt cx="478160" cy="1746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8160" cy="174646"/>
            </a:xfrm>
            <a:custGeom>
              <a:avLst/>
              <a:gdLst/>
              <a:ahLst/>
              <a:cxnLst/>
              <a:rect l="l" t="t" r="r" b="b"/>
              <a:pathLst>
                <a:path w="478160" h="174646">
                  <a:moveTo>
                    <a:pt x="87323" y="0"/>
                  </a:moveTo>
                  <a:lnTo>
                    <a:pt x="390836" y="0"/>
                  </a:lnTo>
                  <a:cubicBezTo>
                    <a:pt x="413996" y="0"/>
                    <a:pt x="436207" y="9200"/>
                    <a:pt x="452583" y="25576"/>
                  </a:cubicBezTo>
                  <a:cubicBezTo>
                    <a:pt x="468959" y="41953"/>
                    <a:pt x="478160" y="64164"/>
                    <a:pt x="478160" y="87323"/>
                  </a:cubicBezTo>
                  <a:lnTo>
                    <a:pt x="478160" y="87323"/>
                  </a:lnTo>
                  <a:cubicBezTo>
                    <a:pt x="478160" y="110483"/>
                    <a:pt x="468959" y="132694"/>
                    <a:pt x="452583" y="149070"/>
                  </a:cubicBezTo>
                  <a:cubicBezTo>
                    <a:pt x="436207" y="165446"/>
                    <a:pt x="413996" y="174646"/>
                    <a:pt x="390836" y="174646"/>
                  </a:cubicBezTo>
                  <a:lnTo>
                    <a:pt x="87323" y="174646"/>
                  </a:lnTo>
                  <a:cubicBezTo>
                    <a:pt x="64164" y="174646"/>
                    <a:pt x="41953" y="165446"/>
                    <a:pt x="25576" y="149070"/>
                  </a:cubicBezTo>
                  <a:cubicBezTo>
                    <a:pt x="9200" y="132694"/>
                    <a:pt x="0" y="110483"/>
                    <a:pt x="0" y="87323"/>
                  </a:cubicBezTo>
                  <a:lnTo>
                    <a:pt x="0" y="87323"/>
                  </a:lnTo>
                  <a:cubicBezTo>
                    <a:pt x="0" y="64164"/>
                    <a:pt x="9200" y="41953"/>
                    <a:pt x="25576" y="25576"/>
                  </a:cubicBezTo>
                  <a:cubicBezTo>
                    <a:pt x="41953" y="9200"/>
                    <a:pt x="64164" y="0"/>
                    <a:pt x="87323" y="0"/>
                  </a:cubicBezTo>
                  <a:close/>
                </a:path>
              </a:pathLst>
            </a:custGeom>
            <a:solidFill>
              <a:srgbClr val="E4EA7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78160" cy="222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63690" y="109338"/>
            <a:ext cx="17995661" cy="9248667"/>
            <a:chOff x="0" y="0"/>
            <a:chExt cx="4739598" cy="22749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739598" cy="2274926"/>
            </a:xfrm>
            <a:custGeom>
              <a:avLst/>
              <a:gdLst/>
              <a:ahLst/>
              <a:cxnLst/>
              <a:rect l="l" t="t" r="r" b="b"/>
              <a:pathLst>
                <a:path w="4739598" h="2274926">
                  <a:moveTo>
                    <a:pt x="14627" y="0"/>
                  </a:moveTo>
                  <a:lnTo>
                    <a:pt x="4724971" y="0"/>
                  </a:lnTo>
                  <a:cubicBezTo>
                    <a:pt x="4733049" y="0"/>
                    <a:pt x="4739598" y="6549"/>
                    <a:pt x="4739598" y="14627"/>
                  </a:cubicBezTo>
                  <a:lnTo>
                    <a:pt x="4739598" y="2260299"/>
                  </a:lnTo>
                  <a:cubicBezTo>
                    <a:pt x="4739598" y="2268377"/>
                    <a:pt x="4733049" y="2274926"/>
                    <a:pt x="4724971" y="2274926"/>
                  </a:cubicBezTo>
                  <a:lnTo>
                    <a:pt x="14627" y="2274926"/>
                  </a:lnTo>
                  <a:cubicBezTo>
                    <a:pt x="6549" y="2274926"/>
                    <a:pt x="0" y="2268377"/>
                    <a:pt x="0" y="2260299"/>
                  </a:cubicBezTo>
                  <a:lnTo>
                    <a:pt x="0" y="14627"/>
                  </a:lnTo>
                  <a:cubicBezTo>
                    <a:pt x="0" y="6549"/>
                    <a:pt x="6549" y="0"/>
                    <a:pt x="14627" y="0"/>
                  </a:cubicBezTo>
                  <a:close/>
                </a:path>
              </a:pathLst>
            </a:custGeom>
            <a:solidFill>
              <a:srgbClr val="17496B">
                <a:alpha val="65882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739598" cy="23225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611599" y="9511778"/>
            <a:ext cx="1069187" cy="332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NEXT &gt;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6312" y="99155"/>
            <a:ext cx="8694120" cy="1161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01"/>
              </a:lnSpc>
            </a:pPr>
            <a:r>
              <a:rPr lang="en-US" sz="6786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COLLECTION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55853" y="1693869"/>
            <a:ext cx="8724934" cy="221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4689" lvl="1" indent="-227344" algn="just">
              <a:lnSpc>
                <a:spcPts val="2948"/>
              </a:lnSpc>
              <a:buFont typeface="Arial"/>
              <a:buChar char="•"/>
            </a:pPr>
            <a:r>
              <a:rPr lang="en-US" sz="3000" b="1" i="1" dirty="0">
                <a:solidFill>
                  <a:srgbClr val="F7F7F4"/>
                </a:solidFill>
                <a:latin typeface="Times New Roman" panose="02020603050405020304" pitchFamily="18" charset="0"/>
                <a:ea typeface="Canva Sans Bold Italics"/>
                <a:cs typeface="Times New Roman" panose="02020603050405020304" pitchFamily="18" charset="0"/>
                <a:sym typeface="Canva Sans Bold Italics"/>
              </a:rPr>
              <a:t>Data was scraped from the Travel Triangle website using Python and Beautiful Soup.</a:t>
            </a:r>
          </a:p>
          <a:p>
            <a:pPr algn="just">
              <a:lnSpc>
                <a:spcPts val="2948"/>
              </a:lnSpc>
            </a:pPr>
            <a:endParaRPr lang="en-US" sz="3000" b="1" i="1" dirty="0">
              <a:solidFill>
                <a:srgbClr val="F7F7F4"/>
              </a:solidFill>
              <a:latin typeface="Times New Roman" panose="02020603050405020304" pitchFamily="18" charset="0"/>
              <a:ea typeface="Canva Sans Bold Italics"/>
              <a:cs typeface="Times New Roman" panose="02020603050405020304" pitchFamily="18" charset="0"/>
              <a:sym typeface="Canva Sans Bold Italics"/>
            </a:endParaRPr>
          </a:p>
          <a:p>
            <a:pPr marL="454689" lvl="1" indent="-227344" algn="just">
              <a:lnSpc>
                <a:spcPts val="2948"/>
              </a:lnSpc>
              <a:buFont typeface="Arial"/>
              <a:buChar char="•"/>
            </a:pPr>
            <a:r>
              <a:rPr lang="en-US" sz="3000" b="1" i="1" dirty="0">
                <a:solidFill>
                  <a:srgbClr val="F7F7F4"/>
                </a:solidFill>
                <a:latin typeface="Times New Roman" panose="02020603050405020304" pitchFamily="18" charset="0"/>
                <a:ea typeface="Canva Sans Bold Italics"/>
                <a:cs typeface="Times New Roman" panose="02020603050405020304" pitchFamily="18" charset="0"/>
                <a:sym typeface="Canva Sans Bold Italics"/>
              </a:rPr>
              <a:t>Multiple category pages were scraped — including Family, Adventure, and Beach Tours.</a:t>
            </a:r>
          </a:p>
          <a:p>
            <a:pPr algn="just">
              <a:lnSpc>
                <a:spcPts val="2948"/>
              </a:lnSpc>
            </a:pPr>
            <a:endParaRPr lang="en-US" sz="2106" b="1" i="1" dirty="0">
              <a:solidFill>
                <a:srgbClr val="F7F7F4"/>
              </a:solidFill>
              <a:latin typeface="Canva Sans Bold Italics"/>
              <a:ea typeface="Canva Sans Bold Italics"/>
              <a:cs typeface="Canva Sans Bold Italics"/>
              <a:sym typeface="Canva Sans Bold Itali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1845" y="6972299"/>
            <a:ext cx="9721755" cy="2687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62913" lvl="1" indent="-231456" algn="l">
              <a:lnSpc>
                <a:spcPts val="3001"/>
              </a:lnSpc>
              <a:buFont typeface="Arial"/>
              <a:buChar char="•"/>
            </a:pPr>
            <a:r>
              <a:rPr lang="en-US" sz="3000" b="1" i="1" dirty="0">
                <a:solidFill>
                  <a:srgbClr val="FFFFFF"/>
                </a:solidFill>
                <a:latin typeface="Times New Roman" panose="02020603050405020304" pitchFamily="18" charset="0"/>
                <a:ea typeface="Canva Sans Bold Italics"/>
                <a:cs typeface="Times New Roman" panose="02020603050405020304" pitchFamily="18" charset="0"/>
                <a:sym typeface="Canva Sans Bold Italics"/>
              </a:rPr>
              <a:t> Extracted key information like:</a:t>
            </a:r>
          </a:p>
          <a:p>
            <a:pPr marL="462913" lvl="1" indent="-231456" algn="l">
              <a:lnSpc>
                <a:spcPts val="3001"/>
              </a:lnSpc>
              <a:buFont typeface="Arial"/>
              <a:buChar char="•"/>
            </a:pPr>
            <a:r>
              <a:rPr lang="en-US" sz="3000" b="1" i="1" dirty="0">
                <a:solidFill>
                  <a:srgbClr val="FFFFFF"/>
                </a:solidFill>
                <a:latin typeface="Times New Roman" panose="02020603050405020304" pitchFamily="18" charset="0"/>
                <a:ea typeface="Canva Sans Bold Italics"/>
                <a:cs typeface="Times New Roman" panose="02020603050405020304" pitchFamily="18" charset="0"/>
                <a:sym typeface="Canva Sans Bold Italics"/>
              </a:rPr>
              <a:t>Package Title, Duration, Discount, Price, Location, Highlights, and Tour Type</a:t>
            </a:r>
          </a:p>
          <a:p>
            <a:pPr algn="l">
              <a:lnSpc>
                <a:spcPts val="3001"/>
              </a:lnSpc>
            </a:pPr>
            <a:endParaRPr lang="en-US" sz="3000" b="1" i="1" dirty="0">
              <a:solidFill>
                <a:srgbClr val="FFFFFF"/>
              </a:solidFill>
              <a:latin typeface="Times New Roman" panose="02020603050405020304" pitchFamily="18" charset="0"/>
              <a:ea typeface="Canva Sans Bold Italics"/>
              <a:cs typeface="Times New Roman" panose="02020603050405020304" pitchFamily="18" charset="0"/>
              <a:sym typeface="Canva Sans Bold Italics"/>
            </a:endParaRPr>
          </a:p>
          <a:p>
            <a:pPr marL="462913" lvl="1" indent="-231456" algn="l">
              <a:lnSpc>
                <a:spcPts val="3001"/>
              </a:lnSpc>
              <a:buFont typeface="Arial"/>
              <a:buChar char="•"/>
            </a:pPr>
            <a:r>
              <a:rPr lang="en-US" sz="3000" b="1" i="1" dirty="0">
                <a:solidFill>
                  <a:srgbClr val="FFFFFF"/>
                </a:solidFill>
                <a:latin typeface="Times New Roman" panose="02020603050405020304" pitchFamily="18" charset="0"/>
                <a:ea typeface="Canva Sans Bold Italics"/>
                <a:cs typeface="Times New Roman" panose="02020603050405020304" pitchFamily="18" charset="0"/>
                <a:sym typeface="Canva Sans Bold Italics"/>
              </a:rPr>
              <a:t>Looped through multiple paginated URLs to collect more than 400 tour packages.</a:t>
            </a:r>
          </a:p>
          <a:p>
            <a:pPr algn="l">
              <a:lnSpc>
                <a:spcPts val="3190"/>
              </a:lnSpc>
            </a:pPr>
            <a:endParaRPr lang="en-US" sz="2144" b="1" i="1" dirty="0">
              <a:solidFill>
                <a:srgbClr val="FFFFFF"/>
              </a:solidFill>
              <a:latin typeface="Canva Sans Bold Italics"/>
              <a:ea typeface="Canva Sans Bold Italics"/>
              <a:cs typeface="Canva Sans Bold Italics"/>
              <a:sym typeface="Canva Sans Bold Italic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80D7D69-4133-4C27-4F42-4394F399A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29" y="1256757"/>
            <a:ext cx="8724935" cy="549861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AE72E32-7BD1-9DEB-35BA-BE56A10FC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7005" y="3646278"/>
            <a:ext cx="8474683" cy="57117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61999" y="-12103"/>
            <a:ext cx="9166173" cy="1461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180"/>
              </a:lnSpc>
            </a:pPr>
            <a:r>
              <a:rPr lang="en-US" sz="87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RAW DATAFRAE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B7B379-8849-4282-DBF7-46913A819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33500"/>
            <a:ext cx="15011400" cy="87979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7113" y="-142875"/>
            <a:ext cx="8011716" cy="1292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40"/>
              </a:lnSpc>
            </a:pPr>
            <a:r>
              <a:rPr lang="en-US" sz="76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CLEANING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7113" y="1739597"/>
            <a:ext cx="18288000" cy="5831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2900" lvl="1" indent="-391450" algn="l">
              <a:lnSpc>
                <a:spcPts val="5076"/>
              </a:lnSpc>
              <a:buFont typeface="Arial"/>
              <a:buChar char="•"/>
            </a:pPr>
            <a:r>
              <a:rPr lang="en-US" sz="3600" dirty="0">
                <a:solidFill>
                  <a:srgbClr val="FFFFFF"/>
                </a:solidFill>
                <a:latin typeface="Times New Roman" panose="02020603050405020304" pitchFamily="18" charset="0"/>
                <a:ea typeface="TT Hoves"/>
                <a:cs typeface="Times New Roman" panose="02020603050405020304" pitchFamily="18" charset="0"/>
                <a:sym typeface="TT Hoves"/>
              </a:rPr>
              <a:t>Extracted Days and Nights from the Duration column and converted them to numeric values.</a:t>
            </a:r>
          </a:p>
          <a:p>
            <a:pPr algn="l">
              <a:lnSpc>
                <a:spcPts val="5076"/>
              </a:lnSpc>
            </a:pPr>
            <a:endParaRPr lang="en-US" sz="3600" dirty="0">
              <a:solidFill>
                <a:srgbClr val="FFFFFF"/>
              </a:solidFill>
              <a:latin typeface="Times New Roman" panose="02020603050405020304" pitchFamily="18" charset="0"/>
              <a:ea typeface="TT Hoves"/>
              <a:cs typeface="Times New Roman" panose="02020603050405020304" pitchFamily="18" charset="0"/>
              <a:sym typeface="TT Hoves"/>
            </a:endParaRPr>
          </a:p>
          <a:p>
            <a:pPr marL="782900" lvl="1" indent="-391450" algn="l">
              <a:lnSpc>
                <a:spcPts val="5076"/>
              </a:lnSpc>
              <a:buFont typeface="Arial"/>
              <a:buChar char="•"/>
            </a:pPr>
            <a:r>
              <a:rPr lang="en-US" sz="3600" dirty="0">
                <a:solidFill>
                  <a:srgbClr val="FFFFFF"/>
                </a:solidFill>
                <a:latin typeface="Times New Roman" panose="02020603050405020304" pitchFamily="18" charset="0"/>
                <a:ea typeface="TT Hoves"/>
                <a:cs typeface="Times New Roman" panose="02020603050405020304" pitchFamily="18" charset="0"/>
                <a:sym typeface="TT Hoves"/>
              </a:rPr>
              <a:t>Cleaned the Discount% column by removing text like % Off and converted it to float.</a:t>
            </a:r>
          </a:p>
          <a:p>
            <a:pPr algn="l">
              <a:lnSpc>
                <a:spcPts val="5076"/>
              </a:lnSpc>
            </a:pPr>
            <a:endParaRPr lang="en-US" sz="3600" dirty="0">
              <a:solidFill>
                <a:srgbClr val="FFFFFF"/>
              </a:solidFill>
              <a:latin typeface="Times New Roman" panose="02020603050405020304" pitchFamily="18" charset="0"/>
              <a:ea typeface="TT Hoves"/>
              <a:cs typeface="Times New Roman" panose="02020603050405020304" pitchFamily="18" charset="0"/>
              <a:sym typeface="TT Hoves"/>
            </a:endParaRPr>
          </a:p>
          <a:p>
            <a:pPr marL="782900" lvl="1" indent="-391450" algn="l">
              <a:lnSpc>
                <a:spcPts val="5076"/>
              </a:lnSpc>
              <a:buFont typeface="Arial"/>
              <a:buChar char="•"/>
            </a:pPr>
            <a:r>
              <a:rPr lang="en-US" sz="3600" dirty="0">
                <a:solidFill>
                  <a:srgbClr val="FFFFFF"/>
                </a:solidFill>
                <a:latin typeface="Times New Roman" panose="02020603050405020304" pitchFamily="18" charset="0"/>
                <a:ea typeface="TT Hoves"/>
                <a:cs typeface="Times New Roman" panose="02020603050405020304" pitchFamily="18" charset="0"/>
                <a:sym typeface="TT Hoves"/>
              </a:rPr>
              <a:t>Fixed the Discount price column by extracting only the correct ₹ price.</a:t>
            </a:r>
          </a:p>
          <a:p>
            <a:pPr algn="l">
              <a:lnSpc>
                <a:spcPts val="5076"/>
              </a:lnSpc>
            </a:pPr>
            <a:endParaRPr lang="en-US" sz="3600" dirty="0">
              <a:solidFill>
                <a:srgbClr val="FFFFFF"/>
              </a:solidFill>
              <a:latin typeface="Times New Roman" panose="02020603050405020304" pitchFamily="18" charset="0"/>
              <a:ea typeface="TT Hoves"/>
              <a:cs typeface="Times New Roman" panose="02020603050405020304" pitchFamily="18" charset="0"/>
              <a:sym typeface="TT Hoves"/>
            </a:endParaRPr>
          </a:p>
          <a:p>
            <a:pPr marL="782900" lvl="1" indent="-391450" algn="l">
              <a:lnSpc>
                <a:spcPts val="5076"/>
              </a:lnSpc>
              <a:buFont typeface="Arial"/>
              <a:buChar char="•"/>
            </a:pPr>
            <a:r>
              <a:rPr lang="en-US" sz="3600" dirty="0">
                <a:solidFill>
                  <a:srgbClr val="FFFFFF"/>
                </a:solidFill>
                <a:latin typeface="Times New Roman" panose="02020603050405020304" pitchFamily="18" charset="0"/>
                <a:ea typeface="TT Hoves"/>
                <a:cs typeface="Times New Roman" panose="02020603050405020304" pitchFamily="18" charset="0"/>
                <a:sym typeface="TT Hoves"/>
              </a:rPr>
              <a:t>Created a new column Amount Saved = Original price – Discounted price.</a:t>
            </a:r>
          </a:p>
          <a:p>
            <a:pPr algn="l">
              <a:lnSpc>
                <a:spcPts val="5076"/>
              </a:lnSpc>
            </a:pPr>
            <a:endParaRPr lang="en-US" sz="3600" dirty="0">
              <a:solidFill>
                <a:srgbClr val="FFFFFF"/>
              </a:solidFill>
              <a:latin typeface="Times New Roman" panose="02020603050405020304" pitchFamily="18" charset="0"/>
              <a:ea typeface="TT Hoves"/>
              <a:cs typeface="Times New Roman" panose="02020603050405020304" pitchFamily="18" charset="0"/>
              <a:sym typeface="TT Hoves"/>
            </a:endParaRPr>
          </a:p>
          <a:p>
            <a:pPr marL="782900" lvl="1" indent="-391450" algn="l">
              <a:lnSpc>
                <a:spcPts val="5076"/>
              </a:lnSpc>
              <a:buFont typeface="Arial"/>
              <a:buChar char="•"/>
            </a:pPr>
            <a:r>
              <a:rPr lang="en-US" sz="3600" dirty="0">
                <a:solidFill>
                  <a:srgbClr val="FFFFFF"/>
                </a:solidFill>
                <a:latin typeface="Times New Roman" panose="02020603050405020304" pitchFamily="18" charset="0"/>
                <a:ea typeface="TT Hoves"/>
                <a:cs typeface="Times New Roman" panose="02020603050405020304" pitchFamily="18" charset="0"/>
                <a:sym typeface="TT Hoves"/>
              </a:rPr>
              <a:t>Cleaned the Location column by removing extra duration info and unnecessary spaces</a:t>
            </a:r>
            <a:r>
              <a:rPr lang="en-US" sz="3000" dirty="0">
                <a:solidFill>
                  <a:srgbClr val="FFFFFF"/>
                </a:solidFill>
                <a:latin typeface="Times New Roman" panose="02020603050405020304" pitchFamily="18" charset="0"/>
                <a:ea typeface="TT Hoves"/>
                <a:cs typeface="Times New Roman" panose="02020603050405020304" pitchFamily="18" charset="0"/>
                <a:sym typeface="TT Hoves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26879" y="-133350"/>
            <a:ext cx="10212521" cy="1833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516"/>
              </a:lnSpc>
            </a:pPr>
            <a:r>
              <a:rPr lang="en-US" sz="6797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CLEANED DATAFRAME</a:t>
            </a:r>
          </a:p>
          <a:p>
            <a:pPr algn="ctr">
              <a:lnSpc>
                <a:spcPts val="4758"/>
              </a:lnSpc>
            </a:pPr>
            <a:endParaRPr lang="en-US" sz="6797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9220D-A26A-B16D-A771-465EF59F1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45060"/>
            <a:ext cx="14782800" cy="8622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956" b="-2537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05708" y="0"/>
            <a:ext cx="4333895" cy="2416147"/>
          </a:xfrm>
          <a:custGeom>
            <a:avLst/>
            <a:gdLst/>
            <a:ahLst/>
            <a:cxnLst/>
            <a:rect l="l" t="t" r="r" b="b"/>
            <a:pathLst>
              <a:path w="4333895" h="2416147">
                <a:moveTo>
                  <a:pt x="0" y="0"/>
                </a:moveTo>
                <a:lnTo>
                  <a:pt x="4333896" y="0"/>
                </a:lnTo>
                <a:lnTo>
                  <a:pt x="4333896" y="2416147"/>
                </a:lnTo>
                <a:lnTo>
                  <a:pt x="0" y="2416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7304078" y="8047894"/>
            <a:ext cx="2059328" cy="2059328"/>
            <a:chOff x="0" y="0"/>
            <a:chExt cx="542375" cy="5423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2375" cy="542375"/>
            </a:xfrm>
            <a:custGeom>
              <a:avLst/>
              <a:gdLst/>
              <a:ahLst/>
              <a:cxnLst/>
              <a:rect l="l" t="t" r="r" b="b"/>
              <a:pathLst>
                <a:path w="542375" h="542375">
                  <a:moveTo>
                    <a:pt x="109024" y="0"/>
                  </a:moveTo>
                  <a:lnTo>
                    <a:pt x="433351" y="0"/>
                  </a:lnTo>
                  <a:cubicBezTo>
                    <a:pt x="462266" y="0"/>
                    <a:pt x="489996" y="11486"/>
                    <a:pt x="510442" y="31932"/>
                  </a:cubicBezTo>
                  <a:cubicBezTo>
                    <a:pt x="530888" y="52378"/>
                    <a:pt x="542375" y="80109"/>
                    <a:pt x="542375" y="109024"/>
                  </a:cubicBezTo>
                  <a:lnTo>
                    <a:pt x="542375" y="433351"/>
                  </a:lnTo>
                  <a:cubicBezTo>
                    <a:pt x="542375" y="462266"/>
                    <a:pt x="530888" y="489996"/>
                    <a:pt x="510442" y="510442"/>
                  </a:cubicBezTo>
                  <a:cubicBezTo>
                    <a:pt x="489996" y="530888"/>
                    <a:pt x="462266" y="542375"/>
                    <a:pt x="433351" y="542375"/>
                  </a:cubicBezTo>
                  <a:lnTo>
                    <a:pt x="109024" y="542375"/>
                  </a:lnTo>
                  <a:cubicBezTo>
                    <a:pt x="80109" y="542375"/>
                    <a:pt x="52378" y="530888"/>
                    <a:pt x="31932" y="510442"/>
                  </a:cubicBezTo>
                  <a:cubicBezTo>
                    <a:pt x="11486" y="489996"/>
                    <a:pt x="0" y="462266"/>
                    <a:pt x="0" y="433351"/>
                  </a:cubicBezTo>
                  <a:lnTo>
                    <a:pt x="0" y="109024"/>
                  </a:lnTo>
                  <a:cubicBezTo>
                    <a:pt x="0" y="80109"/>
                    <a:pt x="11486" y="52378"/>
                    <a:pt x="31932" y="31932"/>
                  </a:cubicBezTo>
                  <a:cubicBezTo>
                    <a:pt x="52378" y="11486"/>
                    <a:pt x="80109" y="0"/>
                    <a:pt x="109024" y="0"/>
                  </a:cubicBezTo>
                  <a:close/>
                </a:path>
              </a:pathLst>
            </a:custGeom>
            <a:solidFill>
              <a:srgbClr val="E4EA7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42375" cy="590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43810" y="8047894"/>
            <a:ext cx="2059328" cy="2059328"/>
            <a:chOff x="0" y="0"/>
            <a:chExt cx="542375" cy="5423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42375" cy="542375"/>
            </a:xfrm>
            <a:custGeom>
              <a:avLst/>
              <a:gdLst/>
              <a:ahLst/>
              <a:cxnLst/>
              <a:rect l="l" t="t" r="r" b="b"/>
              <a:pathLst>
                <a:path w="542375" h="542375">
                  <a:moveTo>
                    <a:pt x="109024" y="0"/>
                  </a:moveTo>
                  <a:lnTo>
                    <a:pt x="433351" y="0"/>
                  </a:lnTo>
                  <a:cubicBezTo>
                    <a:pt x="462266" y="0"/>
                    <a:pt x="489996" y="11486"/>
                    <a:pt x="510442" y="31932"/>
                  </a:cubicBezTo>
                  <a:cubicBezTo>
                    <a:pt x="530888" y="52378"/>
                    <a:pt x="542375" y="80109"/>
                    <a:pt x="542375" y="109024"/>
                  </a:cubicBezTo>
                  <a:lnTo>
                    <a:pt x="542375" y="433351"/>
                  </a:lnTo>
                  <a:cubicBezTo>
                    <a:pt x="542375" y="462266"/>
                    <a:pt x="530888" y="489996"/>
                    <a:pt x="510442" y="510442"/>
                  </a:cubicBezTo>
                  <a:cubicBezTo>
                    <a:pt x="489996" y="530888"/>
                    <a:pt x="462266" y="542375"/>
                    <a:pt x="433351" y="542375"/>
                  </a:cubicBezTo>
                  <a:lnTo>
                    <a:pt x="109024" y="542375"/>
                  </a:lnTo>
                  <a:cubicBezTo>
                    <a:pt x="80109" y="542375"/>
                    <a:pt x="52378" y="530888"/>
                    <a:pt x="31932" y="510442"/>
                  </a:cubicBezTo>
                  <a:cubicBezTo>
                    <a:pt x="11486" y="489996"/>
                    <a:pt x="0" y="462266"/>
                    <a:pt x="0" y="433351"/>
                  </a:cubicBezTo>
                  <a:lnTo>
                    <a:pt x="0" y="109024"/>
                  </a:lnTo>
                  <a:cubicBezTo>
                    <a:pt x="0" y="80109"/>
                    <a:pt x="11486" y="52378"/>
                    <a:pt x="31932" y="31932"/>
                  </a:cubicBezTo>
                  <a:cubicBezTo>
                    <a:pt x="52378" y="11486"/>
                    <a:pt x="80109" y="0"/>
                    <a:pt x="109024" y="0"/>
                  </a:cubicBezTo>
                  <a:close/>
                </a:path>
              </a:pathLst>
            </a:custGeom>
            <a:solidFill>
              <a:srgbClr val="E4EA71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42375" cy="590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009482" y="8047894"/>
            <a:ext cx="2059328" cy="2059328"/>
            <a:chOff x="0" y="0"/>
            <a:chExt cx="542375" cy="5423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42375" cy="542375"/>
            </a:xfrm>
            <a:custGeom>
              <a:avLst/>
              <a:gdLst/>
              <a:ahLst/>
              <a:cxnLst/>
              <a:rect l="l" t="t" r="r" b="b"/>
              <a:pathLst>
                <a:path w="542375" h="542375">
                  <a:moveTo>
                    <a:pt x="109024" y="0"/>
                  </a:moveTo>
                  <a:lnTo>
                    <a:pt x="433351" y="0"/>
                  </a:lnTo>
                  <a:cubicBezTo>
                    <a:pt x="462266" y="0"/>
                    <a:pt x="489996" y="11486"/>
                    <a:pt x="510442" y="31932"/>
                  </a:cubicBezTo>
                  <a:cubicBezTo>
                    <a:pt x="530888" y="52378"/>
                    <a:pt x="542375" y="80109"/>
                    <a:pt x="542375" y="109024"/>
                  </a:cubicBezTo>
                  <a:lnTo>
                    <a:pt x="542375" y="433351"/>
                  </a:lnTo>
                  <a:cubicBezTo>
                    <a:pt x="542375" y="462266"/>
                    <a:pt x="530888" y="489996"/>
                    <a:pt x="510442" y="510442"/>
                  </a:cubicBezTo>
                  <a:cubicBezTo>
                    <a:pt x="489996" y="530888"/>
                    <a:pt x="462266" y="542375"/>
                    <a:pt x="433351" y="542375"/>
                  </a:cubicBezTo>
                  <a:lnTo>
                    <a:pt x="109024" y="542375"/>
                  </a:lnTo>
                  <a:cubicBezTo>
                    <a:pt x="80109" y="542375"/>
                    <a:pt x="52378" y="530888"/>
                    <a:pt x="31932" y="510442"/>
                  </a:cubicBezTo>
                  <a:cubicBezTo>
                    <a:pt x="11486" y="489996"/>
                    <a:pt x="0" y="462266"/>
                    <a:pt x="0" y="433351"/>
                  </a:cubicBezTo>
                  <a:lnTo>
                    <a:pt x="0" y="109024"/>
                  </a:lnTo>
                  <a:cubicBezTo>
                    <a:pt x="0" y="80109"/>
                    <a:pt x="11486" y="52378"/>
                    <a:pt x="31932" y="31932"/>
                  </a:cubicBezTo>
                  <a:cubicBezTo>
                    <a:pt x="52378" y="11486"/>
                    <a:pt x="80109" y="0"/>
                    <a:pt x="109024" y="0"/>
                  </a:cubicBezTo>
                  <a:close/>
                </a:path>
              </a:pathLst>
            </a:custGeom>
            <a:solidFill>
              <a:srgbClr val="E4EA71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42375" cy="590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7369200" y="8665435"/>
            <a:ext cx="1929084" cy="824245"/>
          </a:xfrm>
          <a:custGeom>
            <a:avLst/>
            <a:gdLst/>
            <a:ahLst/>
            <a:cxnLst/>
            <a:rect l="l" t="t" r="r" b="b"/>
            <a:pathLst>
              <a:path w="1929084" h="824245">
                <a:moveTo>
                  <a:pt x="0" y="0"/>
                </a:moveTo>
                <a:lnTo>
                  <a:pt x="1929084" y="0"/>
                </a:lnTo>
                <a:lnTo>
                  <a:pt x="1929084" y="824245"/>
                </a:lnTo>
                <a:lnTo>
                  <a:pt x="0" y="824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969607" y="9077558"/>
            <a:ext cx="1873262" cy="663109"/>
            <a:chOff x="0" y="0"/>
            <a:chExt cx="493370" cy="17464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93370" cy="174646"/>
            </a:xfrm>
            <a:custGeom>
              <a:avLst/>
              <a:gdLst/>
              <a:ahLst/>
              <a:cxnLst/>
              <a:rect l="l" t="t" r="r" b="b"/>
              <a:pathLst>
                <a:path w="493370" h="174646">
                  <a:moveTo>
                    <a:pt x="87323" y="0"/>
                  </a:moveTo>
                  <a:lnTo>
                    <a:pt x="406047" y="0"/>
                  </a:lnTo>
                  <a:cubicBezTo>
                    <a:pt x="429206" y="0"/>
                    <a:pt x="451417" y="9200"/>
                    <a:pt x="467793" y="25576"/>
                  </a:cubicBezTo>
                  <a:cubicBezTo>
                    <a:pt x="484169" y="41953"/>
                    <a:pt x="493370" y="64164"/>
                    <a:pt x="493370" y="87323"/>
                  </a:cubicBezTo>
                  <a:lnTo>
                    <a:pt x="493370" y="87323"/>
                  </a:lnTo>
                  <a:cubicBezTo>
                    <a:pt x="493370" y="110483"/>
                    <a:pt x="484169" y="132694"/>
                    <a:pt x="467793" y="149070"/>
                  </a:cubicBezTo>
                  <a:cubicBezTo>
                    <a:pt x="451417" y="165446"/>
                    <a:pt x="429206" y="174646"/>
                    <a:pt x="406047" y="174646"/>
                  </a:cubicBezTo>
                  <a:lnTo>
                    <a:pt x="87323" y="174646"/>
                  </a:lnTo>
                  <a:cubicBezTo>
                    <a:pt x="64164" y="174646"/>
                    <a:pt x="41953" y="165446"/>
                    <a:pt x="25576" y="149070"/>
                  </a:cubicBezTo>
                  <a:cubicBezTo>
                    <a:pt x="9200" y="132694"/>
                    <a:pt x="0" y="110483"/>
                    <a:pt x="0" y="87323"/>
                  </a:cubicBezTo>
                  <a:lnTo>
                    <a:pt x="0" y="87323"/>
                  </a:lnTo>
                  <a:cubicBezTo>
                    <a:pt x="0" y="64164"/>
                    <a:pt x="9200" y="41953"/>
                    <a:pt x="25576" y="25576"/>
                  </a:cubicBezTo>
                  <a:cubicBezTo>
                    <a:pt x="41953" y="9200"/>
                    <a:pt x="64164" y="0"/>
                    <a:pt x="87323" y="0"/>
                  </a:cubicBezTo>
                  <a:close/>
                </a:path>
              </a:pathLst>
            </a:custGeom>
            <a:solidFill>
              <a:srgbClr val="E4EA7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493370" cy="222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443788" y="9077558"/>
            <a:ext cx="1815512" cy="663109"/>
            <a:chOff x="0" y="0"/>
            <a:chExt cx="478160" cy="17464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78160" cy="174646"/>
            </a:xfrm>
            <a:custGeom>
              <a:avLst/>
              <a:gdLst/>
              <a:ahLst/>
              <a:cxnLst/>
              <a:rect l="l" t="t" r="r" b="b"/>
              <a:pathLst>
                <a:path w="478160" h="174646">
                  <a:moveTo>
                    <a:pt x="87323" y="0"/>
                  </a:moveTo>
                  <a:lnTo>
                    <a:pt x="390836" y="0"/>
                  </a:lnTo>
                  <a:cubicBezTo>
                    <a:pt x="413996" y="0"/>
                    <a:pt x="436207" y="9200"/>
                    <a:pt x="452583" y="25576"/>
                  </a:cubicBezTo>
                  <a:cubicBezTo>
                    <a:pt x="468959" y="41953"/>
                    <a:pt x="478160" y="64164"/>
                    <a:pt x="478160" y="87323"/>
                  </a:cubicBezTo>
                  <a:lnTo>
                    <a:pt x="478160" y="87323"/>
                  </a:lnTo>
                  <a:cubicBezTo>
                    <a:pt x="478160" y="110483"/>
                    <a:pt x="468959" y="132694"/>
                    <a:pt x="452583" y="149070"/>
                  </a:cubicBezTo>
                  <a:cubicBezTo>
                    <a:pt x="436207" y="165446"/>
                    <a:pt x="413996" y="174646"/>
                    <a:pt x="390836" y="174646"/>
                  </a:cubicBezTo>
                  <a:lnTo>
                    <a:pt x="87323" y="174646"/>
                  </a:lnTo>
                  <a:cubicBezTo>
                    <a:pt x="64164" y="174646"/>
                    <a:pt x="41953" y="165446"/>
                    <a:pt x="25576" y="149070"/>
                  </a:cubicBezTo>
                  <a:cubicBezTo>
                    <a:pt x="9200" y="132694"/>
                    <a:pt x="0" y="110483"/>
                    <a:pt x="0" y="87323"/>
                  </a:cubicBezTo>
                  <a:lnTo>
                    <a:pt x="0" y="87323"/>
                  </a:lnTo>
                  <a:cubicBezTo>
                    <a:pt x="0" y="64164"/>
                    <a:pt x="9200" y="41953"/>
                    <a:pt x="25576" y="25576"/>
                  </a:cubicBezTo>
                  <a:cubicBezTo>
                    <a:pt x="41953" y="9200"/>
                    <a:pt x="64164" y="0"/>
                    <a:pt x="87323" y="0"/>
                  </a:cubicBezTo>
                  <a:close/>
                </a:path>
              </a:pathLst>
            </a:custGeom>
            <a:solidFill>
              <a:srgbClr val="E4EA71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478160" cy="222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369200" y="9505722"/>
            <a:ext cx="2240107" cy="422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266189"/>
                </a:solidFill>
                <a:latin typeface="TT Hoves Bold"/>
                <a:ea typeface="TT Hoves Bold"/>
                <a:cs typeface="TT Hoves Bold"/>
                <a:sym typeface="TT Hoves Bold"/>
              </a:rPr>
              <a:t>Adventure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88945" y="9489680"/>
            <a:ext cx="1995150" cy="444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>
                <a:solidFill>
                  <a:srgbClr val="266189"/>
                </a:solidFill>
                <a:latin typeface="TT Hoves Bold"/>
                <a:ea typeface="TT Hoves Bold"/>
                <a:cs typeface="TT Hoves Bold"/>
                <a:sym typeface="TT Hoves Bold"/>
              </a:rPr>
              <a:t>Family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60074" y="9512300"/>
            <a:ext cx="2240107" cy="422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266189"/>
                </a:solidFill>
                <a:latin typeface="TT Hoves Bold"/>
                <a:ea typeface="TT Hoves Bold"/>
                <a:cs typeface="TT Hoves Bold"/>
                <a:sym typeface="TT Hoves Bold"/>
              </a:rPr>
              <a:t>Beach Tour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572656" y="9210675"/>
            <a:ext cx="168664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NEXT &gt;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9210675"/>
            <a:ext cx="1686644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&lt; BACK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60074" y="7946237"/>
            <a:ext cx="1494606" cy="160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38"/>
              </a:lnSpc>
              <a:spcBef>
                <a:spcPct val="0"/>
              </a:spcBef>
            </a:pPr>
            <a:r>
              <a:rPr lang="en-US" sz="9456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🌊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243988" y="8133859"/>
            <a:ext cx="1658972" cy="1314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5"/>
              </a:lnSpc>
              <a:spcBef>
                <a:spcPct val="0"/>
              </a:spcBef>
            </a:pPr>
            <a:r>
              <a:rPr lang="en-US" sz="7903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👨‍‍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89254" y="1764185"/>
            <a:ext cx="9798746" cy="5122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6963" lvl="1" indent="-388482" algn="l">
              <a:lnSpc>
                <a:spcPts val="6765"/>
              </a:lnSpc>
              <a:buFont typeface="Arial"/>
              <a:buChar char="•"/>
            </a:pPr>
            <a:r>
              <a:rPr lang="en-US" sz="3600" b="1" dirty="0">
                <a:solidFill>
                  <a:srgbClr val="17496B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Total packages are categorized into Singapore, Beach, and Adventure tours.</a:t>
            </a:r>
          </a:p>
          <a:p>
            <a:pPr marL="776963" lvl="1" indent="-388482" algn="l">
              <a:lnSpc>
                <a:spcPts val="6765"/>
              </a:lnSpc>
              <a:buFont typeface="Arial"/>
              <a:buChar char="•"/>
            </a:pPr>
            <a:r>
              <a:rPr lang="en-US" sz="3600" b="1" dirty="0">
                <a:solidFill>
                  <a:srgbClr val="17496B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Beach tours have the highest number of packages.</a:t>
            </a:r>
          </a:p>
          <a:p>
            <a:pPr marL="776963" lvl="1" indent="-388482" algn="l">
              <a:lnSpc>
                <a:spcPts val="6765"/>
              </a:lnSpc>
              <a:buFont typeface="Arial"/>
              <a:buChar char="•"/>
            </a:pPr>
            <a:r>
              <a:rPr lang="en-US" sz="3600" b="1" dirty="0">
                <a:solidFill>
                  <a:srgbClr val="17496B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Singapore and Adventure tours are also well-represented.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6626" y="156391"/>
            <a:ext cx="8487024" cy="998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4"/>
              </a:lnSpc>
            </a:pPr>
            <a:r>
              <a:rPr lang="en-US" sz="5895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UNIVARIATE ANALYSIS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-76200" y="838935"/>
            <a:ext cx="11658599" cy="20033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67"/>
              </a:lnSpc>
            </a:pPr>
            <a:r>
              <a:rPr lang="en-US" sz="4905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the most popular Tour Type?</a:t>
            </a:r>
          </a:p>
          <a:p>
            <a:pPr algn="ctr">
              <a:lnSpc>
                <a:spcPts val="9247"/>
              </a:lnSpc>
            </a:pPr>
            <a:endParaRPr lang="en-US" sz="4905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CEB5A77-6F16-02CE-6462-84E67C42C9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626" y="2024621"/>
            <a:ext cx="8487024" cy="58008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99708"/>
            <a:ext cx="10088225" cy="927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7"/>
              </a:lnSpc>
            </a:pPr>
            <a:r>
              <a:rPr lang="en-US" sz="5498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5498" b="1" i="1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Distribution of Original Price</a:t>
            </a:r>
            <a:r>
              <a:rPr lang="en-US" sz="5498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675179" y="2516538"/>
            <a:ext cx="9970035" cy="3875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3414" lvl="1" indent="-356707" algn="l">
              <a:lnSpc>
                <a:spcPts val="6212"/>
              </a:lnSpc>
              <a:buFont typeface="Arial"/>
              <a:buChar char="•"/>
            </a:pPr>
            <a:r>
              <a:rPr lang="en-US" sz="3600" b="1" dirty="0">
                <a:solidFill>
                  <a:srgbClr val="F7F7F4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Most packages are priced between ₹15,000 and ₹40,000.</a:t>
            </a:r>
          </a:p>
          <a:p>
            <a:pPr marL="713414" lvl="1" indent="-356707" algn="l">
              <a:lnSpc>
                <a:spcPts val="6212"/>
              </a:lnSpc>
              <a:buFont typeface="Arial"/>
              <a:buChar char="•"/>
            </a:pPr>
            <a:r>
              <a:rPr lang="en-US" sz="3600" b="1" dirty="0">
                <a:solidFill>
                  <a:srgbClr val="F7F7F4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The price distribution is slightly right-skewed.</a:t>
            </a:r>
          </a:p>
          <a:p>
            <a:pPr marL="713414" lvl="1" indent="-356707">
              <a:lnSpc>
                <a:spcPts val="6212"/>
              </a:lnSpc>
              <a:buFont typeface="Arial"/>
              <a:buChar char="•"/>
            </a:pPr>
            <a:r>
              <a:rPr lang="en-US" sz="3600" b="1" dirty="0">
                <a:solidFill>
                  <a:srgbClr val="F7F7F4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A few outlier packages go beyond ₹80,000 to ₹ 1,10,00.</a:t>
            </a:r>
          </a:p>
        </p:txBody>
      </p:sp>
      <p:sp>
        <p:nvSpPr>
          <p:cNvPr id="3" name="AutoShape 2" descr="Uploaded image">
            <a:extLst>
              <a:ext uri="{FF2B5EF4-FFF2-40B4-BE49-F238E27FC236}">
                <a16:creationId xmlns:a16="http://schemas.microsoft.com/office/drawing/2014/main" id="{C3DDACD8-A362-84F0-1C89-E2FB9D1301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518830-803F-D1C0-9266-EBAAEA455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47899"/>
            <a:ext cx="8370379" cy="5196209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5875" y="49237"/>
            <a:ext cx="15456346" cy="97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63"/>
              </a:lnSpc>
              <a:spcBef>
                <a:spcPct val="0"/>
              </a:spcBef>
            </a:pPr>
            <a:r>
              <a:rPr lang="en-US" sz="5688" b="1" i="1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What is the average Discount Percentage?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0" y="2476834"/>
            <a:ext cx="8936870" cy="4444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6935" lvl="1" indent="-408467" algn="l">
              <a:lnSpc>
                <a:spcPts val="7113"/>
              </a:lnSpc>
              <a:buFont typeface="Arial"/>
              <a:buChar char="•"/>
            </a:pPr>
            <a:r>
              <a:rPr lang="en-US" sz="3600" b="1" dirty="0">
                <a:solidFill>
                  <a:srgbClr val="F7F7F4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Most discounts are between 7% to 10%.</a:t>
            </a:r>
          </a:p>
          <a:p>
            <a:pPr marL="816935" lvl="1" indent="-408467">
              <a:lnSpc>
                <a:spcPts val="7113"/>
              </a:lnSpc>
              <a:buFont typeface="Arial"/>
              <a:buChar char="•"/>
            </a:pPr>
            <a:r>
              <a:rPr lang="en-US" sz="3600" b="1" dirty="0">
                <a:solidFill>
                  <a:srgbClr val="F7F7F4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Average discount is around 9.7%.</a:t>
            </a:r>
          </a:p>
          <a:p>
            <a:pPr marL="816935" lvl="1" indent="-408467">
              <a:lnSpc>
                <a:spcPts val="7113"/>
              </a:lnSpc>
              <a:buFont typeface="Arial"/>
              <a:buChar char="•"/>
            </a:pPr>
            <a:r>
              <a:rPr lang="en-US" sz="36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is approximately normal but slightly skewed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3600" b="1" dirty="0">
                <a:solidFill>
                  <a:srgbClr val="F7F7F4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.</a:t>
            </a:r>
          </a:p>
          <a:p>
            <a:pPr algn="l">
              <a:lnSpc>
                <a:spcPts val="7113"/>
              </a:lnSpc>
            </a:pPr>
            <a:endParaRPr lang="en-US" sz="3783" b="1" dirty="0">
              <a:solidFill>
                <a:srgbClr val="F7F7F4"/>
              </a:solidFill>
              <a:latin typeface="TT Hoves Bold"/>
              <a:ea typeface="TT Hoves Bold"/>
              <a:cs typeface="TT Hoves Bold"/>
              <a:sym typeface="TT Hoves Bo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13CDB5-E13B-7CFE-F137-14B3A11E0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4247"/>
            <a:ext cx="8686800" cy="53555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304800" y="37400"/>
            <a:ext cx="9137050" cy="1064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15"/>
              </a:lnSpc>
            </a:pPr>
            <a:r>
              <a:rPr lang="en-US" sz="5939" b="1" i="1" dirty="0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BIVARIATE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5550" y="942975"/>
            <a:ext cx="16711066" cy="3572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80"/>
              </a:lnSpc>
            </a:pPr>
            <a:r>
              <a:rPr lang="en-US" sz="441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 there a relationship between original price and discounted price?</a:t>
            </a:r>
          </a:p>
          <a:p>
            <a:pPr algn="ctr">
              <a:lnSpc>
                <a:spcPts val="8130"/>
              </a:lnSpc>
            </a:pPr>
            <a:endParaRPr lang="en-US" sz="4414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8130"/>
              </a:lnSpc>
            </a:pPr>
            <a:endParaRPr lang="en-US" sz="4414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85396" y="2495090"/>
            <a:ext cx="9991361" cy="590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6043" lvl="1">
              <a:lnSpc>
                <a:spcPts val="6026"/>
              </a:lnSpc>
            </a:pPr>
            <a:endParaRPr lang="en-US" sz="3600" dirty="0">
              <a:latin typeface="TT Hoves Bold "/>
            </a:endParaRPr>
          </a:p>
          <a:p>
            <a:pPr marL="692085" lvl="1" indent="-346042">
              <a:lnSpc>
                <a:spcPts val="6026"/>
              </a:lnSpc>
              <a:buFont typeface="Arial"/>
              <a:buChar char="•"/>
            </a:pPr>
            <a:r>
              <a:rPr lang="en-US" sz="3600" b="1" dirty="0">
                <a:solidFill>
                  <a:srgbClr val="F7F7F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T Hoves Bold"/>
              </a:rPr>
              <a:t>T</a:t>
            </a:r>
            <a:r>
              <a:rPr lang="en-US" sz="3600" b="1" dirty="0">
                <a:solidFill>
                  <a:srgbClr val="F7F7F4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here is positive relationship between original and discount prices.</a:t>
            </a:r>
          </a:p>
          <a:p>
            <a:pPr marL="692085" lvl="1" indent="-346042">
              <a:lnSpc>
                <a:spcPts val="6026"/>
              </a:lnSpc>
              <a:buFont typeface="Arial"/>
              <a:buChar char="•"/>
            </a:pPr>
            <a:r>
              <a:rPr lang="en-US" sz="3600" b="1" dirty="0">
                <a:solidFill>
                  <a:srgbClr val="F7F7F4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Most  data points are concentrated at lower prices (</a:t>
            </a: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~₹10,000 to ₹40,000)</a:t>
            </a:r>
            <a:r>
              <a:rPr lang="en-US" sz="3600" b="1" dirty="0">
                <a:solidFill>
                  <a:srgbClr val="F7F7F4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.</a:t>
            </a:r>
          </a:p>
          <a:p>
            <a:pPr marL="692085" lvl="1" indent="-346042" algn="l">
              <a:lnSpc>
                <a:spcPts val="6026"/>
              </a:lnSpc>
              <a:buFont typeface="Arial"/>
              <a:buChar char="•"/>
            </a:pPr>
            <a:r>
              <a:rPr lang="en-US" sz="3600" dirty="0">
                <a:solidFill>
                  <a:srgbClr val="F7F7F4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Helpfu</a:t>
            </a:r>
            <a:r>
              <a:rPr lang="en-US" sz="3600" b="1" dirty="0">
                <a:solidFill>
                  <a:srgbClr val="F7F7F4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l for identifying luxury vs budget segments.</a:t>
            </a:r>
          </a:p>
          <a:p>
            <a:pPr algn="l">
              <a:lnSpc>
                <a:spcPts val="4282"/>
              </a:lnSpc>
            </a:pPr>
            <a:endParaRPr lang="en-US" sz="3205" b="1" dirty="0">
              <a:solidFill>
                <a:srgbClr val="F7F7F4"/>
              </a:solidFill>
              <a:latin typeface="TT Hoves Bold"/>
              <a:ea typeface="TT Hoves Bold"/>
              <a:cs typeface="TT Hoves Bold"/>
              <a:sym typeface="TT Hoves Bo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997537-C14D-0256-02EF-344CDD201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50" y="2904558"/>
            <a:ext cx="8058852" cy="50825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527416" y="729395"/>
            <a:ext cx="4333895" cy="2416147"/>
          </a:xfrm>
          <a:custGeom>
            <a:avLst/>
            <a:gdLst/>
            <a:ahLst/>
            <a:cxnLst/>
            <a:rect l="l" t="t" r="r" b="b"/>
            <a:pathLst>
              <a:path w="4333895" h="2416147">
                <a:moveTo>
                  <a:pt x="0" y="0"/>
                </a:moveTo>
                <a:lnTo>
                  <a:pt x="4333896" y="0"/>
                </a:lnTo>
                <a:lnTo>
                  <a:pt x="4333896" y="2416146"/>
                </a:lnTo>
                <a:lnTo>
                  <a:pt x="0" y="24161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-1054305" y="24857"/>
            <a:ext cx="20396610" cy="2314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33"/>
              </a:lnSpc>
            </a:pPr>
            <a:r>
              <a:rPr lang="en-US" sz="4881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Which tour type has the highest average discounted price?</a:t>
            </a:r>
          </a:p>
          <a:p>
            <a:pPr algn="ctr">
              <a:lnSpc>
                <a:spcPts val="6833"/>
              </a:lnSpc>
            </a:pPr>
            <a:endParaRPr lang="en-US" sz="4881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4733"/>
              </a:lnSpc>
            </a:pPr>
            <a:endParaRPr lang="en-US" sz="4881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3966" y="996326"/>
            <a:ext cx="17783068" cy="322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6062" lvl="1" indent="-373031" algn="l">
              <a:lnSpc>
                <a:spcPts val="6496"/>
              </a:lnSpc>
              <a:buFont typeface="Arial"/>
              <a:buChar char="•"/>
            </a:pPr>
            <a:r>
              <a:rPr lang="en-US" sz="3600" b="1" dirty="0">
                <a:solidFill>
                  <a:srgbClr val="17496B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Singapore tours have the highest average discounted price (₹52,000+), targeting premium travelers.</a:t>
            </a:r>
          </a:p>
          <a:p>
            <a:pPr marL="746062" lvl="1" indent="-373031">
              <a:lnSpc>
                <a:spcPts val="6496"/>
              </a:lnSpc>
              <a:buFont typeface="Arial"/>
              <a:buChar char="•"/>
            </a:pPr>
            <a:r>
              <a:rPr lang="en-US" sz="3600" dirty="0">
                <a:solidFill>
                  <a:srgbClr val="17496B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Beach</a:t>
            </a:r>
            <a:r>
              <a:rPr lang="en-US" sz="3600" b="1" dirty="0">
                <a:solidFill>
                  <a:srgbClr val="17496B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 tours are mid-range, offering(₹37,000) a balance between cost and experience.</a:t>
            </a:r>
          </a:p>
          <a:p>
            <a:pPr marL="746062" lvl="1" indent="-373031" algn="l">
              <a:lnSpc>
                <a:spcPts val="6496"/>
              </a:lnSpc>
              <a:buFont typeface="Arial"/>
              <a:buChar char="•"/>
            </a:pPr>
            <a:r>
              <a:rPr lang="en-US" sz="3600" b="1" dirty="0">
                <a:solidFill>
                  <a:srgbClr val="17496B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 Adventure tours are the most affordable, great for budget-friendly travelers.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484CCF-E776-A31C-6BB0-6A2B48B23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1" y="5065453"/>
            <a:ext cx="7982436" cy="494354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-123825"/>
            <a:ext cx="10794392" cy="2298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62"/>
              </a:lnSpc>
            </a:pPr>
            <a:r>
              <a:rPr lang="en-US" sz="6616" b="1" i="1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MULTIVARIATE ANALYSIS</a:t>
            </a:r>
          </a:p>
          <a:p>
            <a:pPr algn="ctr">
              <a:lnSpc>
                <a:spcPts val="9262"/>
              </a:lnSpc>
            </a:pPr>
            <a:endParaRPr lang="en-US" sz="6616" b="1" i="1">
              <a:solidFill>
                <a:srgbClr val="FFFFFF"/>
              </a:solidFill>
              <a:latin typeface="Canva Sans Bold Italics"/>
              <a:ea typeface="Canva Sans Bold Italics"/>
              <a:cs typeface="Canva Sans Bold Italics"/>
              <a:sym typeface="Canva Sans Bold Itali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14381" y="999366"/>
            <a:ext cx="11822549" cy="754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03"/>
              </a:lnSpc>
              <a:spcBef>
                <a:spcPct val="0"/>
              </a:spcBef>
            </a:pPr>
            <a:r>
              <a:rPr lang="en-US" sz="4800" i="1" dirty="0">
                <a:solidFill>
                  <a:srgbClr val="FFFFFF"/>
                </a:solidFill>
                <a:latin typeface="Times New Roman" panose="02020603050405020304" pitchFamily="18" charset="0"/>
                <a:ea typeface="TT Hoves Italics"/>
                <a:cs typeface="Times New Roman" panose="02020603050405020304" pitchFamily="18" charset="0"/>
                <a:sym typeface="TT Hoves Italics"/>
              </a:rPr>
              <a:t>Which Tour Type Generates the Most Revenue?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619530" y="2437947"/>
            <a:ext cx="8933942" cy="6484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7093" lvl="1" indent="-293547" algn="l">
              <a:lnSpc>
                <a:spcPts val="5112"/>
              </a:lnSpc>
              <a:buFont typeface="Arial"/>
              <a:buChar char="•"/>
            </a:pPr>
            <a:r>
              <a:rPr lang="en-US" sz="3600" b="1" i="1" dirty="0" err="1">
                <a:solidFill>
                  <a:srgbClr val="F7F7F4"/>
                </a:solidFill>
                <a:latin typeface="Times New Roman" panose="02020603050405020304" pitchFamily="18" charset="0"/>
                <a:ea typeface="TT Hoves Bold Italics"/>
                <a:cs typeface="Times New Roman" panose="02020603050405020304" pitchFamily="18" charset="0"/>
                <a:sym typeface="TT Hoves Bold Italics"/>
              </a:rPr>
              <a:t>singapore</a:t>
            </a:r>
            <a:r>
              <a:rPr lang="en-US" sz="3600" b="1" i="1" dirty="0">
                <a:solidFill>
                  <a:srgbClr val="F7F7F4"/>
                </a:solidFill>
                <a:latin typeface="Times New Roman" panose="02020603050405020304" pitchFamily="18" charset="0"/>
                <a:ea typeface="TT Hoves Bold Italics"/>
                <a:cs typeface="Times New Roman" panose="02020603050405020304" pitchFamily="18" charset="0"/>
                <a:sym typeface="TT Hoves Bold Italics"/>
              </a:rPr>
              <a:t> tours generated the highest revenue (~₹7 Lakhs).</a:t>
            </a:r>
          </a:p>
          <a:p>
            <a:pPr algn="l">
              <a:lnSpc>
                <a:spcPts val="5112"/>
              </a:lnSpc>
            </a:pPr>
            <a:endParaRPr lang="en-US" sz="3600" b="1" i="1" dirty="0">
              <a:solidFill>
                <a:srgbClr val="F7F7F4"/>
              </a:solidFill>
              <a:latin typeface="Times New Roman" panose="02020603050405020304" pitchFamily="18" charset="0"/>
              <a:ea typeface="TT Hoves Bold Italics"/>
              <a:cs typeface="Times New Roman" panose="02020603050405020304" pitchFamily="18" charset="0"/>
              <a:sym typeface="TT Hoves Bold Italics"/>
            </a:endParaRPr>
          </a:p>
          <a:p>
            <a:pPr marL="587093" lvl="1" indent="-293547" algn="l">
              <a:lnSpc>
                <a:spcPts val="5112"/>
              </a:lnSpc>
              <a:buFont typeface="Arial"/>
              <a:buChar char="•"/>
            </a:pPr>
            <a:r>
              <a:rPr lang="en-US" sz="3600" b="1" i="1" dirty="0">
                <a:solidFill>
                  <a:srgbClr val="F7F7F4"/>
                </a:solidFill>
                <a:latin typeface="Times New Roman" panose="02020603050405020304" pitchFamily="18" charset="0"/>
                <a:ea typeface="TT Hoves Bold Italics"/>
                <a:cs typeface="Times New Roman" panose="02020603050405020304" pitchFamily="18" charset="0"/>
                <a:sym typeface="TT Hoves Bold Italics"/>
              </a:rPr>
              <a:t> Beach tours follow with ~₹5.7 Lakhs in sales.</a:t>
            </a:r>
          </a:p>
          <a:p>
            <a:pPr algn="l">
              <a:lnSpc>
                <a:spcPts val="5112"/>
              </a:lnSpc>
            </a:pPr>
            <a:endParaRPr lang="en-US" sz="3600" b="1" i="1" dirty="0">
              <a:solidFill>
                <a:srgbClr val="F7F7F4"/>
              </a:solidFill>
              <a:latin typeface="Times New Roman" panose="02020603050405020304" pitchFamily="18" charset="0"/>
              <a:ea typeface="TT Hoves Bold Italics"/>
              <a:cs typeface="Times New Roman" panose="02020603050405020304" pitchFamily="18" charset="0"/>
              <a:sym typeface="TT Hoves Bold Italics"/>
            </a:endParaRPr>
          </a:p>
          <a:p>
            <a:pPr marL="587093" lvl="1" indent="-293547" algn="l">
              <a:lnSpc>
                <a:spcPts val="5112"/>
              </a:lnSpc>
              <a:buFont typeface="Arial"/>
              <a:buChar char="•"/>
            </a:pPr>
            <a:r>
              <a:rPr lang="en-US" sz="3600" b="1" i="1" dirty="0">
                <a:solidFill>
                  <a:srgbClr val="F7F7F4"/>
                </a:solidFill>
                <a:latin typeface="Times New Roman" panose="02020603050405020304" pitchFamily="18" charset="0"/>
                <a:ea typeface="TT Hoves Bold Italics"/>
                <a:cs typeface="Times New Roman" panose="02020603050405020304" pitchFamily="18" charset="0"/>
                <a:sym typeface="TT Hoves Bold Italics"/>
              </a:rPr>
              <a:t> Adventure tours earned ~₹4 Lakhs.</a:t>
            </a:r>
          </a:p>
          <a:p>
            <a:pPr algn="l">
              <a:lnSpc>
                <a:spcPts val="5112"/>
              </a:lnSpc>
            </a:pPr>
            <a:endParaRPr lang="en-US" sz="3600" b="1" i="1" dirty="0">
              <a:solidFill>
                <a:srgbClr val="F7F7F4"/>
              </a:solidFill>
              <a:latin typeface="Times New Roman" panose="02020603050405020304" pitchFamily="18" charset="0"/>
              <a:ea typeface="TT Hoves Bold Italics"/>
              <a:cs typeface="Times New Roman" panose="02020603050405020304" pitchFamily="18" charset="0"/>
              <a:sym typeface="TT Hoves Bold Italics"/>
            </a:endParaRPr>
          </a:p>
          <a:p>
            <a:pPr marL="587093" lvl="1" indent="-293547" algn="l">
              <a:lnSpc>
                <a:spcPts val="5112"/>
              </a:lnSpc>
              <a:buFont typeface="Arial"/>
              <a:buChar char="•"/>
            </a:pPr>
            <a:r>
              <a:rPr lang="en-US" sz="3600" b="1" i="1" dirty="0">
                <a:solidFill>
                  <a:srgbClr val="F7F7F4"/>
                </a:solidFill>
                <a:latin typeface="Times New Roman" panose="02020603050405020304" pitchFamily="18" charset="0"/>
                <a:ea typeface="TT Hoves Bold Italics"/>
                <a:cs typeface="Times New Roman" panose="02020603050405020304" pitchFamily="18" charset="0"/>
                <a:sym typeface="TT Hoves Bold Italics"/>
              </a:rPr>
              <a:t>Indicates strong demand for </a:t>
            </a:r>
            <a:r>
              <a:rPr lang="en-US" sz="3600" b="1" i="1" dirty="0" err="1">
                <a:solidFill>
                  <a:srgbClr val="F7F7F4"/>
                </a:solidFill>
                <a:latin typeface="Times New Roman" panose="02020603050405020304" pitchFamily="18" charset="0"/>
                <a:ea typeface="TT Hoves Bold Italics"/>
                <a:cs typeface="Times New Roman" panose="02020603050405020304" pitchFamily="18" charset="0"/>
                <a:sym typeface="TT Hoves Bold Italics"/>
              </a:rPr>
              <a:t>singapore</a:t>
            </a:r>
            <a:r>
              <a:rPr lang="en-US" sz="3600" b="1" i="1" dirty="0">
                <a:solidFill>
                  <a:srgbClr val="F7F7F4"/>
                </a:solidFill>
                <a:latin typeface="Times New Roman" panose="02020603050405020304" pitchFamily="18" charset="0"/>
                <a:ea typeface="TT Hoves Bold Italics"/>
                <a:cs typeface="Times New Roman" panose="02020603050405020304" pitchFamily="18" charset="0"/>
                <a:sym typeface="TT Hoves Bold Italics"/>
              </a:rPr>
              <a:t> destinations.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F40447-59C2-1290-01FE-4E3CCC562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1" y="2823838"/>
            <a:ext cx="8933942" cy="529146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915" b="-7186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034472" y="8796238"/>
            <a:ext cx="2619479" cy="1225750"/>
            <a:chOff x="0" y="0"/>
            <a:chExt cx="689904" cy="3228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9904" cy="322831"/>
            </a:xfrm>
            <a:custGeom>
              <a:avLst/>
              <a:gdLst/>
              <a:ahLst/>
              <a:cxnLst/>
              <a:rect l="l" t="t" r="r" b="b"/>
              <a:pathLst>
                <a:path w="689904" h="322831">
                  <a:moveTo>
                    <a:pt x="44333" y="0"/>
                  </a:moveTo>
                  <a:lnTo>
                    <a:pt x="645571" y="0"/>
                  </a:lnTo>
                  <a:cubicBezTo>
                    <a:pt x="657329" y="0"/>
                    <a:pt x="668605" y="4671"/>
                    <a:pt x="676919" y="12985"/>
                  </a:cubicBezTo>
                  <a:cubicBezTo>
                    <a:pt x="685233" y="21299"/>
                    <a:pt x="689904" y="32575"/>
                    <a:pt x="689904" y="44333"/>
                  </a:cubicBezTo>
                  <a:lnTo>
                    <a:pt x="689904" y="278498"/>
                  </a:lnTo>
                  <a:cubicBezTo>
                    <a:pt x="689904" y="290256"/>
                    <a:pt x="685233" y="301532"/>
                    <a:pt x="676919" y="309846"/>
                  </a:cubicBezTo>
                  <a:cubicBezTo>
                    <a:pt x="668605" y="318160"/>
                    <a:pt x="657329" y="322831"/>
                    <a:pt x="645571" y="322831"/>
                  </a:cubicBezTo>
                  <a:lnTo>
                    <a:pt x="44333" y="322831"/>
                  </a:lnTo>
                  <a:cubicBezTo>
                    <a:pt x="32575" y="322831"/>
                    <a:pt x="21299" y="318160"/>
                    <a:pt x="12985" y="309846"/>
                  </a:cubicBezTo>
                  <a:cubicBezTo>
                    <a:pt x="4671" y="301532"/>
                    <a:pt x="0" y="290256"/>
                    <a:pt x="0" y="278498"/>
                  </a:cubicBezTo>
                  <a:lnTo>
                    <a:pt x="0" y="44333"/>
                  </a:lnTo>
                  <a:cubicBezTo>
                    <a:pt x="0" y="32575"/>
                    <a:pt x="4671" y="21299"/>
                    <a:pt x="12985" y="12985"/>
                  </a:cubicBezTo>
                  <a:cubicBezTo>
                    <a:pt x="21299" y="4671"/>
                    <a:pt x="32575" y="0"/>
                    <a:pt x="44333" y="0"/>
                  </a:cubicBezTo>
                  <a:close/>
                </a:path>
              </a:pathLst>
            </a:custGeom>
            <a:solidFill>
              <a:srgbClr val="E4EA7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89904" cy="370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796751" y="9113576"/>
            <a:ext cx="1123337" cy="847609"/>
          </a:xfrm>
          <a:custGeom>
            <a:avLst/>
            <a:gdLst/>
            <a:ahLst/>
            <a:cxnLst/>
            <a:rect l="l" t="t" r="r" b="b"/>
            <a:pathLst>
              <a:path w="1123337" h="847609">
                <a:moveTo>
                  <a:pt x="0" y="0"/>
                </a:moveTo>
                <a:lnTo>
                  <a:pt x="1123337" y="0"/>
                </a:lnTo>
                <a:lnTo>
                  <a:pt x="1123337" y="847609"/>
                </a:lnTo>
                <a:lnTo>
                  <a:pt x="0" y="847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988085" y="-706509"/>
            <a:ext cx="7382976" cy="4116009"/>
          </a:xfrm>
          <a:custGeom>
            <a:avLst/>
            <a:gdLst/>
            <a:ahLst/>
            <a:cxnLst/>
            <a:rect l="l" t="t" r="r" b="b"/>
            <a:pathLst>
              <a:path w="7382976" h="4116009">
                <a:moveTo>
                  <a:pt x="0" y="0"/>
                </a:moveTo>
                <a:lnTo>
                  <a:pt x="7382976" y="0"/>
                </a:lnTo>
                <a:lnTo>
                  <a:pt x="7382976" y="4116009"/>
                </a:lnTo>
                <a:lnTo>
                  <a:pt x="0" y="41160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688594" y="8795921"/>
            <a:ext cx="1455406" cy="28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6"/>
              </a:lnSpc>
            </a:pPr>
            <a:r>
              <a:rPr lang="en-US" sz="1661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Food &amp; drinks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4706" y="6072459"/>
            <a:ext cx="17319284" cy="1953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6153" lvl="1" indent="-403077" algn="l">
              <a:lnSpc>
                <a:spcPts val="5227"/>
              </a:lnSpc>
              <a:buFont typeface="Arial"/>
              <a:buChar char="•"/>
            </a:pPr>
            <a:r>
              <a:rPr lang="en-US" sz="3600" b="1" dirty="0">
                <a:solidFill>
                  <a:srgbClr val="F7F7F4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Meals and Sightseeing appear in most tour packages.</a:t>
            </a:r>
          </a:p>
          <a:p>
            <a:pPr marL="806153" lvl="1" indent="-403077" algn="l">
              <a:lnSpc>
                <a:spcPts val="5227"/>
              </a:lnSpc>
              <a:buFont typeface="Arial"/>
              <a:buChar char="•"/>
            </a:pPr>
            <a:r>
              <a:rPr lang="en-US" sz="3600" b="1" dirty="0">
                <a:solidFill>
                  <a:srgbClr val="F7F7F4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Some packages also include Hotels as an extra benefit.</a:t>
            </a:r>
          </a:p>
          <a:p>
            <a:pPr marL="806155" lvl="1" indent="-403077" algn="l">
              <a:lnSpc>
                <a:spcPts val="5227"/>
              </a:lnSpc>
              <a:buFont typeface="Arial"/>
              <a:buChar char="•"/>
            </a:pPr>
            <a:r>
              <a:rPr lang="en-US" sz="3600" b="1" dirty="0">
                <a:solidFill>
                  <a:srgbClr val="F7F7F4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Indicates travelers value basic comfort and guided experiences.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5068" y="60566"/>
            <a:ext cx="12335470" cy="1571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2"/>
              </a:lnSpc>
              <a:spcBef>
                <a:spcPct val="0"/>
              </a:spcBef>
            </a:pPr>
            <a:r>
              <a:rPr lang="en-US" sz="4508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What are the Most Common Tour Highlights?</a:t>
            </a:r>
          </a:p>
          <a:p>
            <a:pPr algn="l">
              <a:lnSpc>
                <a:spcPts val="6312"/>
              </a:lnSpc>
              <a:spcBef>
                <a:spcPct val="0"/>
              </a:spcBef>
            </a:pPr>
            <a:endParaRPr lang="en-US" sz="4508" b="1">
              <a:solidFill>
                <a:srgbClr val="FFFFFF"/>
              </a:solidFill>
              <a:latin typeface="TT Hoves Bold"/>
              <a:ea typeface="TT Hoves Bold"/>
              <a:cs typeface="TT Hoves Bold"/>
              <a:sym typeface="TT Hoves Bold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D4BE82-3C9C-695E-EF2D-656F90AF06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1562100"/>
            <a:ext cx="14359803" cy="424534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CCA00-08C7-85C9-BC0B-542E5C106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94FF35A-4442-0604-0042-636A4DEC93F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915" b="-71862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76A3B54-B683-9677-EEB6-9809E3C6C717}"/>
              </a:ext>
            </a:extLst>
          </p:cNvPr>
          <p:cNvGrpSpPr/>
          <p:nvPr/>
        </p:nvGrpSpPr>
        <p:grpSpPr>
          <a:xfrm>
            <a:off x="7034472" y="8796238"/>
            <a:ext cx="2619479" cy="1225750"/>
            <a:chOff x="0" y="0"/>
            <a:chExt cx="689904" cy="32283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81402A3-A0B8-409A-1112-F5A0BB38FE91}"/>
                </a:ext>
              </a:extLst>
            </p:cNvPr>
            <p:cNvSpPr/>
            <p:nvPr/>
          </p:nvSpPr>
          <p:spPr>
            <a:xfrm>
              <a:off x="0" y="0"/>
              <a:ext cx="689904" cy="322831"/>
            </a:xfrm>
            <a:custGeom>
              <a:avLst/>
              <a:gdLst/>
              <a:ahLst/>
              <a:cxnLst/>
              <a:rect l="l" t="t" r="r" b="b"/>
              <a:pathLst>
                <a:path w="689904" h="322831">
                  <a:moveTo>
                    <a:pt x="44333" y="0"/>
                  </a:moveTo>
                  <a:lnTo>
                    <a:pt x="645571" y="0"/>
                  </a:lnTo>
                  <a:cubicBezTo>
                    <a:pt x="657329" y="0"/>
                    <a:pt x="668605" y="4671"/>
                    <a:pt x="676919" y="12985"/>
                  </a:cubicBezTo>
                  <a:cubicBezTo>
                    <a:pt x="685233" y="21299"/>
                    <a:pt x="689904" y="32575"/>
                    <a:pt x="689904" y="44333"/>
                  </a:cubicBezTo>
                  <a:lnTo>
                    <a:pt x="689904" y="278498"/>
                  </a:lnTo>
                  <a:cubicBezTo>
                    <a:pt x="689904" y="290256"/>
                    <a:pt x="685233" y="301532"/>
                    <a:pt x="676919" y="309846"/>
                  </a:cubicBezTo>
                  <a:cubicBezTo>
                    <a:pt x="668605" y="318160"/>
                    <a:pt x="657329" y="322831"/>
                    <a:pt x="645571" y="322831"/>
                  </a:cubicBezTo>
                  <a:lnTo>
                    <a:pt x="44333" y="322831"/>
                  </a:lnTo>
                  <a:cubicBezTo>
                    <a:pt x="32575" y="322831"/>
                    <a:pt x="21299" y="318160"/>
                    <a:pt x="12985" y="309846"/>
                  </a:cubicBezTo>
                  <a:cubicBezTo>
                    <a:pt x="4671" y="301532"/>
                    <a:pt x="0" y="290256"/>
                    <a:pt x="0" y="278498"/>
                  </a:cubicBezTo>
                  <a:lnTo>
                    <a:pt x="0" y="44333"/>
                  </a:lnTo>
                  <a:cubicBezTo>
                    <a:pt x="0" y="32575"/>
                    <a:pt x="4671" y="21299"/>
                    <a:pt x="12985" y="12985"/>
                  </a:cubicBezTo>
                  <a:cubicBezTo>
                    <a:pt x="21299" y="4671"/>
                    <a:pt x="32575" y="0"/>
                    <a:pt x="44333" y="0"/>
                  </a:cubicBezTo>
                  <a:close/>
                </a:path>
              </a:pathLst>
            </a:custGeom>
            <a:solidFill>
              <a:srgbClr val="E4EA71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26A903A-227C-EC90-D9D2-EAF1E7D45BD1}"/>
                </a:ext>
              </a:extLst>
            </p:cNvPr>
            <p:cNvSpPr txBox="1"/>
            <p:nvPr/>
          </p:nvSpPr>
          <p:spPr>
            <a:xfrm>
              <a:off x="0" y="-47625"/>
              <a:ext cx="689904" cy="370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A5361AAA-5182-9799-DCC5-F3D2EDFB4BC2}"/>
              </a:ext>
            </a:extLst>
          </p:cNvPr>
          <p:cNvSpPr/>
          <p:nvPr/>
        </p:nvSpPr>
        <p:spPr>
          <a:xfrm>
            <a:off x="7796751" y="9113576"/>
            <a:ext cx="1123337" cy="847609"/>
          </a:xfrm>
          <a:custGeom>
            <a:avLst/>
            <a:gdLst/>
            <a:ahLst/>
            <a:cxnLst/>
            <a:rect l="l" t="t" r="r" b="b"/>
            <a:pathLst>
              <a:path w="1123337" h="847609">
                <a:moveTo>
                  <a:pt x="0" y="0"/>
                </a:moveTo>
                <a:lnTo>
                  <a:pt x="1123337" y="0"/>
                </a:lnTo>
                <a:lnTo>
                  <a:pt x="1123337" y="847609"/>
                </a:lnTo>
                <a:lnTo>
                  <a:pt x="0" y="8476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A740C0D-7C7C-80ED-01A1-1CD74054DE52}"/>
              </a:ext>
            </a:extLst>
          </p:cNvPr>
          <p:cNvSpPr/>
          <p:nvPr/>
        </p:nvSpPr>
        <p:spPr>
          <a:xfrm>
            <a:off x="12988085" y="-706509"/>
            <a:ext cx="7382976" cy="4116009"/>
          </a:xfrm>
          <a:custGeom>
            <a:avLst/>
            <a:gdLst/>
            <a:ahLst/>
            <a:cxnLst/>
            <a:rect l="l" t="t" r="r" b="b"/>
            <a:pathLst>
              <a:path w="7382976" h="4116009">
                <a:moveTo>
                  <a:pt x="0" y="0"/>
                </a:moveTo>
                <a:lnTo>
                  <a:pt x="7382976" y="0"/>
                </a:lnTo>
                <a:lnTo>
                  <a:pt x="7382976" y="4116009"/>
                </a:lnTo>
                <a:lnTo>
                  <a:pt x="0" y="41160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7DA4E63-B81C-BF2C-D8AA-5F1A662BCF80}"/>
              </a:ext>
            </a:extLst>
          </p:cNvPr>
          <p:cNvSpPr txBox="1"/>
          <p:nvPr/>
        </p:nvSpPr>
        <p:spPr>
          <a:xfrm>
            <a:off x="7688594" y="8795921"/>
            <a:ext cx="1455406" cy="281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6"/>
              </a:lnSpc>
            </a:pPr>
            <a:r>
              <a:rPr lang="en-US" sz="1661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Food &amp; drinks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389C54C-77E5-82AF-8352-7665B70D9F35}"/>
              </a:ext>
            </a:extLst>
          </p:cNvPr>
          <p:cNvSpPr txBox="1"/>
          <p:nvPr/>
        </p:nvSpPr>
        <p:spPr>
          <a:xfrm>
            <a:off x="754706" y="6072459"/>
            <a:ext cx="17319284" cy="2619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6153" lvl="1" indent="-403077" algn="l">
              <a:lnSpc>
                <a:spcPts val="5227"/>
              </a:lnSpc>
              <a:buFont typeface="Arial"/>
              <a:buChar char="•"/>
            </a:pPr>
            <a:r>
              <a:rPr lang="en-US" sz="3600" b="1" dirty="0">
                <a:solidFill>
                  <a:srgbClr val="F7F7F4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beach-Tour Package appear in most tour packages.</a:t>
            </a:r>
          </a:p>
          <a:p>
            <a:pPr marL="806153" lvl="1" indent="-403077">
              <a:lnSpc>
                <a:spcPts val="5227"/>
              </a:lnSpc>
              <a:buFont typeface="Arial"/>
              <a:buChar char="•"/>
            </a:pPr>
            <a:r>
              <a:rPr lang="en-US" sz="3600" b="1" dirty="0">
                <a:solidFill>
                  <a:srgbClr val="F7F7F4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slightly more than Singapore and adventure , All three tour types are almost evenly distributed.</a:t>
            </a:r>
          </a:p>
          <a:p>
            <a:pPr marL="806155" lvl="1" indent="-403077">
              <a:lnSpc>
                <a:spcPts val="5227"/>
              </a:lnSpc>
              <a:buFont typeface="Arial"/>
              <a:buChar char="•"/>
            </a:pPr>
            <a:r>
              <a:rPr lang="en-US" sz="3600" b="1" dirty="0">
                <a:solidFill>
                  <a:srgbClr val="F7F7F4"/>
                </a:solidFill>
                <a:latin typeface="Times New Roman" panose="02020603050405020304" pitchFamily="18" charset="0"/>
                <a:ea typeface="TT Hoves Bold"/>
                <a:cs typeface="Times New Roman" panose="02020603050405020304" pitchFamily="18" charset="0"/>
                <a:sym typeface="TT Hoves Bold"/>
              </a:rPr>
              <a:t>which shows a balanced offering for different customer interests...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BE3FED3-860B-E7AE-1BE2-E2DA78C7AE27}"/>
              </a:ext>
            </a:extLst>
          </p:cNvPr>
          <p:cNvSpPr txBox="1"/>
          <p:nvPr/>
        </p:nvSpPr>
        <p:spPr>
          <a:xfrm>
            <a:off x="305068" y="60566"/>
            <a:ext cx="12335470" cy="2364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312"/>
              </a:lnSpc>
              <a:spcBef>
                <a:spcPct val="0"/>
              </a:spcBef>
            </a:pPr>
            <a:r>
              <a:rPr lang="en-US" sz="4508" b="1" dirty="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 Which type of tour package is most common?</a:t>
            </a:r>
          </a:p>
          <a:p>
            <a:pPr algn="l">
              <a:lnSpc>
                <a:spcPts val="6312"/>
              </a:lnSpc>
              <a:spcBef>
                <a:spcPct val="0"/>
              </a:spcBef>
            </a:pPr>
            <a:endParaRPr lang="en-US" sz="4508" b="1" dirty="0">
              <a:solidFill>
                <a:srgbClr val="FFFFFF"/>
              </a:solidFill>
              <a:latin typeface="TT Hoves Bold"/>
              <a:ea typeface="TT Hoves Bold"/>
              <a:cs typeface="TT Hoves Bold"/>
              <a:sym typeface="TT Hoves Bold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82ADC9C-3B7D-4AB6-64DD-8D09DD445D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401" y="1595298"/>
            <a:ext cx="9609623" cy="437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587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315FA5-A767-6D7A-8C06-0B41AF1EEE87}"/>
              </a:ext>
            </a:extLst>
          </p:cNvPr>
          <p:cNvSpPr txBox="1"/>
          <p:nvPr/>
        </p:nvSpPr>
        <p:spPr>
          <a:xfrm>
            <a:off x="2438400" y="1333500"/>
            <a:ext cx="11277600" cy="755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312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Which type of tour package is most common?</a:t>
            </a:r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5DACE31D-DBD9-8CA3-1061-571FDBD6450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915" b="-7186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CF2343-74CB-BCA7-1FF5-6E222A4C4098}"/>
              </a:ext>
            </a:extLst>
          </p:cNvPr>
          <p:cNvSpPr txBox="1"/>
          <p:nvPr/>
        </p:nvSpPr>
        <p:spPr>
          <a:xfrm>
            <a:off x="685800" y="647700"/>
            <a:ext cx="9144000" cy="1480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510" b="1" dirty="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Which type of tour gives  more  savings?</a:t>
            </a:r>
            <a:endParaRPr lang="en-IN" sz="451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4E4FC6-D6C9-1E40-0B18-B041D2EF9F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247901"/>
            <a:ext cx="6705600" cy="5257799"/>
          </a:xfrm>
          <a:prstGeom prst="rect">
            <a:avLst/>
          </a:prstGeom>
        </p:spPr>
      </p:pic>
      <p:sp>
        <p:nvSpPr>
          <p:cNvPr id="12" name="TextBox 5">
            <a:extLst>
              <a:ext uri="{FF2B5EF4-FFF2-40B4-BE49-F238E27FC236}">
                <a16:creationId xmlns:a16="http://schemas.microsoft.com/office/drawing/2014/main" id="{F2B3A9BB-F0ED-AA02-3BAD-87A886FA447C}"/>
              </a:ext>
            </a:extLst>
          </p:cNvPr>
          <p:cNvSpPr txBox="1"/>
          <p:nvPr/>
        </p:nvSpPr>
        <p:spPr>
          <a:xfrm>
            <a:off x="7924800" y="2247901"/>
            <a:ext cx="9906000" cy="6484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87093" lvl="1" indent="-293547">
              <a:lnSpc>
                <a:spcPts val="5112"/>
              </a:lnSpc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Singapore tours offer the highest average savings (~₹9,200).</a:t>
            </a:r>
            <a:endParaRPr lang="en-US" sz="3600" b="1" i="1" dirty="0">
              <a:solidFill>
                <a:schemeClr val="bg1"/>
              </a:solidFill>
              <a:latin typeface="Times New Roman" panose="02020603050405020304" pitchFamily="18" charset="0"/>
              <a:ea typeface="TT Hoves Bold Italics"/>
              <a:cs typeface="Times New Roman" panose="02020603050405020304" pitchFamily="18" charset="0"/>
              <a:sym typeface="TT Hoves Bold Italics"/>
            </a:endParaRPr>
          </a:p>
          <a:p>
            <a:pPr algn="l">
              <a:lnSpc>
                <a:spcPts val="5112"/>
              </a:lnSpc>
            </a:pPr>
            <a:endParaRPr lang="en-US" sz="3600" b="1" i="1" dirty="0">
              <a:solidFill>
                <a:schemeClr val="bg1"/>
              </a:solidFill>
              <a:latin typeface="Times New Roman" panose="02020603050405020304" pitchFamily="18" charset="0"/>
              <a:ea typeface="TT Hoves Bold Italics"/>
              <a:cs typeface="Times New Roman" panose="02020603050405020304" pitchFamily="18" charset="0"/>
              <a:sym typeface="TT Hoves Bold Italics"/>
            </a:endParaRPr>
          </a:p>
          <a:p>
            <a:pPr marL="587093" lvl="1" indent="-293547">
              <a:lnSpc>
                <a:spcPts val="5112"/>
              </a:lnSpc>
              <a:buFont typeface="Arial"/>
              <a:buChar char="•"/>
            </a:pPr>
            <a:r>
              <a:rPr lang="en-US" sz="3600" b="1" i="1" dirty="0">
                <a:solidFill>
                  <a:srgbClr val="F7F7F4"/>
                </a:solidFill>
                <a:latin typeface="Times New Roman" panose="02020603050405020304" pitchFamily="18" charset="0"/>
                <a:ea typeface="TT Hoves Bold Italics"/>
                <a:cs typeface="Times New Roman" panose="02020603050405020304" pitchFamily="18" charset="0"/>
                <a:sym typeface="TT Hoves Bold Italics"/>
              </a:rPr>
              <a:t> Beach tours moderate average savings 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(~₹3,400). </a:t>
            </a:r>
            <a:endParaRPr lang="en-US" sz="3600" b="1" i="1" dirty="0">
              <a:solidFill>
                <a:srgbClr val="F7F7F4"/>
              </a:solidFill>
              <a:latin typeface="Times New Roman" panose="02020603050405020304" pitchFamily="18" charset="0"/>
              <a:ea typeface="TT Hoves Bold Italics"/>
              <a:cs typeface="Times New Roman" panose="02020603050405020304" pitchFamily="18" charset="0"/>
              <a:sym typeface="TT Hoves Bold Italics"/>
            </a:endParaRPr>
          </a:p>
          <a:p>
            <a:pPr algn="l">
              <a:lnSpc>
                <a:spcPts val="5112"/>
              </a:lnSpc>
            </a:pPr>
            <a:endParaRPr lang="en-US" sz="3600" b="1" i="1" dirty="0">
              <a:solidFill>
                <a:srgbClr val="F7F7F4"/>
              </a:solidFill>
              <a:latin typeface="Times New Roman" panose="02020603050405020304" pitchFamily="18" charset="0"/>
              <a:ea typeface="TT Hoves Bold Italics"/>
              <a:cs typeface="Times New Roman" panose="02020603050405020304" pitchFamily="18" charset="0"/>
              <a:sym typeface="TT Hoves Bold Italics"/>
            </a:endParaRPr>
          </a:p>
          <a:p>
            <a:pPr marL="587093" lvl="1" indent="-293547">
              <a:lnSpc>
                <a:spcPts val="5112"/>
              </a:lnSpc>
              <a:buFont typeface="Arial"/>
              <a:buChar char="•"/>
            </a:pPr>
            <a:r>
              <a:rPr lang="en-US" sz="3600" b="1" i="1" dirty="0">
                <a:solidFill>
                  <a:srgbClr val="F7F7F4"/>
                </a:solidFill>
                <a:latin typeface="Times New Roman" panose="02020603050405020304" pitchFamily="18" charset="0"/>
                <a:ea typeface="TT Hoves Bold Italics"/>
                <a:cs typeface="Times New Roman" panose="02020603050405020304" pitchFamily="18" charset="0"/>
                <a:sym typeface="TT Hoves Bold Italics"/>
              </a:rPr>
              <a:t> Adventure tours have lowest average(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~₹2,500).</a:t>
            </a:r>
            <a:r>
              <a:rPr lang="en-US" sz="3600" b="1" i="1" dirty="0">
                <a:solidFill>
                  <a:srgbClr val="F7F7F4"/>
                </a:solidFill>
                <a:latin typeface="Times New Roman" panose="02020603050405020304" pitchFamily="18" charset="0"/>
                <a:ea typeface="TT Hoves Bold Italics"/>
                <a:cs typeface="Times New Roman" panose="02020603050405020304" pitchFamily="18" charset="0"/>
                <a:sym typeface="TT Hoves Bold Italics"/>
              </a:rPr>
              <a:t>.</a:t>
            </a:r>
          </a:p>
          <a:p>
            <a:pPr algn="l">
              <a:lnSpc>
                <a:spcPts val="5112"/>
              </a:lnSpc>
            </a:pPr>
            <a:endParaRPr lang="en-US" sz="3600" b="1" i="1" dirty="0">
              <a:solidFill>
                <a:srgbClr val="F7F7F4"/>
              </a:solidFill>
              <a:latin typeface="Times New Roman" panose="02020603050405020304" pitchFamily="18" charset="0"/>
              <a:ea typeface="TT Hoves Bold Italics"/>
              <a:cs typeface="Times New Roman" panose="02020603050405020304" pitchFamily="18" charset="0"/>
              <a:sym typeface="TT Hoves Bold Italics"/>
            </a:endParaRPr>
          </a:p>
          <a:p>
            <a:pPr marL="587093" lvl="1" indent="-293547" algn="l">
              <a:lnSpc>
                <a:spcPts val="5112"/>
              </a:lnSpc>
              <a:buFont typeface="Arial"/>
              <a:buChar char="•"/>
            </a:pPr>
            <a:r>
              <a:rPr lang="en-US" sz="3600" b="1" i="1" dirty="0">
                <a:solidFill>
                  <a:srgbClr val="F7F7F4"/>
                </a:solidFill>
                <a:latin typeface="Times New Roman" panose="02020603050405020304" pitchFamily="18" charset="0"/>
                <a:ea typeface="TT Hoves Bold Italics"/>
                <a:cs typeface="Times New Roman" panose="02020603050405020304" pitchFamily="18" charset="0"/>
                <a:sym typeface="TT Hoves Bold Italics"/>
              </a:rPr>
              <a:t>Indicates strong demand for </a:t>
            </a:r>
            <a:r>
              <a:rPr lang="en-US" sz="3600" b="1" i="1" dirty="0" err="1">
                <a:solidFill>
                  <a:srgbClr val="F7F7F4"/>
                </a:solidFill>
                <a:latin typeface="Times New Roman" panose="02020603050405020304" pitchFamily="18" charset="0"/>
                <a:ea typeface="TT Hoves Bold Italics"/>
                <a:cs typeface="Times New Roman" panose="02020603050405020304" pitchFamily="18" charset="0"/>
                <a:sym typeface="TT Hoves Bold Italics"/>
              </a:rPr>
              <a:t>singapore</a:t>
            </a:r>
            <a:r>
              <a:rPr lang="en-US" sz="3600" b="1" i="1" dirty="0">
                <a:solidFill>
                  <a:srgbClr val="F7F7F4"/>
                </a:solidFill>
                <a:latin typeface="Times New Roman" panose="02020603050405020304" pitchFamily="18" charset="0"/>
                <a:ea typeface="TT Hoves Bold Italics"/>
                <a:cs typeface="Times New Roman" panose="02020603050405020304" pitchFamily="18" charset="0"/>
                <a:sym typeface="TT Hoves Bold Italics"/>
              </a:rPr>
              <a:t> destinations.</a:t>
            </a:r>
          </a:p>
        </p:txBody>
      </p:sp>
    </p:spTree>
    <p:extLst>
      <p:ext uri="{BB962C8B-B14F-4D97-AF65-F5344CB8AC3E}">
        <p14:creationId xmlns:p14="http://schemas.microsoft.com/office/powerpoint/2010/main" val="3643116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1B709-D18D-40B0-1CC5-EC997F4B1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F103B-B41A-2433-3C2A-ABE258905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87DBE-99A5-EEC0-B0D5-12F9ED319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73602F0C-DCDB-9386-3E3E-88B642256E1F}"/>
              </a:ext>
            </a:extLst>
          </p:cNvPr>
          <p:cNvSpPr/>
          <p:nvPr/>
        </p:nvSpPr>
        <p:spPr>
          <a:xfrm>
            <a:off x="0" y="-2331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915" b="-71862"/>
            </a:stretch>
          </a:blipFill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3C07C5-6470-A700-AEEA-8B1C26E92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50364"/>
            <a:ext cx="8011643" cy="59634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169E5E-571D-E403-ED17-A47DE19F7CF5}"/>
              </a:ext>
            </a:extLst>
          </p:cNvPr>
          <p:cNvSpPr txBox="1"/>
          <p:nvPr/>
        </p:nvSpPr>
        <p:spPr>
          <a:xfrm>
            <a:off x="685800" y="647700"/>
            <a:ext cx="9144000" cy="786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510" b="1" dirty="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Correlation Heatmap</a:t>
            </a:r>
            <a:endParaRPr lang="en-IN" sz="4510" dirty="0"/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3F9DDBF1-F91C-D6AE-1613-CC4ED2DB9577}"/>
              </a:ext>
            </a:extLst>
          </p:cNvPr>
          <p:cNvSpPr txBox="1"/>
          <p:nvPr/>
        </p:nvSpPr>
        <p:spPr>
          <a:xfrm>
            <a:off x="8959380" y="2247901"/>
            <a:ext cx="8871420" cy="6484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87093" lvl="1" indent="-293547">
              <a:lnSpc>
                <a:spcPts val="5112"/>
              </a:lnSpc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Days and Nights have a perfect correlation (1.00).</a:t>
            </a:r>
            <a:endParaRPr lang="en-US" sz="3600" b="1" i="1" dirty="0">
              <a:solidFill>
                <a:schemeClr val="bg1"/>
              </a:solidFill>
              <a:latin typeface="Times New Roman" panose="02020603050405020304" pitchFamily="18" charset="0"/>
              <a:ea typeface="TT Hoves Bold Italics"/>
              <a:cs typeface="Times New Roman" panose="02020603050405020304" pitchFamily="18" charset="0"/>
              <a:sym typeface="TT Hoves Bold Italics"/>
            </a:endParaRPr>
          </a:p>
          <a:p>
            <a:pPr marL="587093" lvl="1" indent="-293547">
              <a:lnSpc>
                <a:spcPts val="5112"/>
              </a:lnSpc>
              <a:buFont typeface="Arial"/>
              <a:buChar char="•"/>
            </a:pPr>
            <a:r>
              <a:rPr lang="en-US" sz="3600" b="1" i="1" dirty="0">
                <a:solidFill>
                  <a:srgbClr val="F7F7F4"/>
                </a:solidFill>
                <a:latin typeface="Times New Roman" panose="02020603050405020304" pitchFamily="18" charset="0"/>
                <a:ea typeface="TT Hoves Bold Italics"/>
                <a:cs typeface="Times New Roman" panose="02020603050405020304" pitchFamily="18" charset="0"/>
                <a:sym typeface="TT Hoves Bold Italics"/>
              </a:rPr>
              <a:t> 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price and Amount Saved have a strong positive correlation (0.67).</a:t>
            </a:r>
            <a:endParaRPr lang="en-US" sz="3600" b="1" i="1" dirty="0">
              <a:solidFill>
                <a:srgbClr val="F7F7F4"/>
              </a:solidFill>
              <a:latin typeface="Times New Roman" panose="02020603050405020304" pitchFamily="18" charset="0"/>
              <a:ea typeface="TT Hoves Bold Italics"/>
              <a:cs typeface="Times New Roman" panose="02020603050405020304" pitchFamily="18" charset="0"/>
              <a:sym typeface="TT Hoves Bold Italics"/>
            </a:endParaRPr>
          </a:p>
          <a:p>
            <a:pPr marL="587093" lvl="1" indent="-293547">
              <a:lnSpc>
                <a:spcPts val="5112"/>
              </a:lnSpc>
              <a:buFont typeface="Arial"/>
              <a:buChar char="•"/>
            </a:pPr>
            <a:r>
              <a:rPr lang="en-US" sz="3600" b="1" i="1" dirty="0">
                <a:solidFill>
                  <a:srgbClr val="F7F7F4"/>
                </a:solidFill>
                <a:latin typeface="Times New Roman" panose="02020603050405020304" pitchFamily="18" charset="0"/>
                <a:ea typeface="TT Hoves Bold Italics"/>
                <a:cs typeface="Times New Roman" panose="02020603050405020304" pitchFamily="18" charset="0"/>
                <a:sym typeface="TT Hoves Bold Italics"/>
              </a:rPr>
              <a:t> 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price and Discount price show moderate positive correlation (0.27).</a:t>
            </a:r>
            <a:endParaRPr lang="en-US" sz="3600" b="1" i="1" dirty="0">
              <a:solidFill>
                <a:srgbClr val="F7F7F4"/>
              </a:solidFill>
              <a:latin typeface="Times New Roman" panose="02020603050405020304" pitchFamily="18" charset="0"/>
              <a:ea typeface="TT Hoves Bold Italics"/>
              <a:cs typeface="Times New Roman" panose="02020603050405020304" pitchFamily="18" charset="0"/>
              <a:sym typeface="TT Hoves Bold Italics"/>
            </a:endParaRPr>
          </a:p>
          <a:p>
            <a:pPr marL="587093" lvl="1" indent="-293547">
              <a:lnSpc>
                <a:spcPts val="5112"/>
              </a:lnSpc>
              <a:buFont typeface="Arial"/>
              <a:buChar char="•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Discount price and Amount Saved have a moderate negative correlation (-0.49).</a:t>
            </a:r>
            <a:endParaRPr lang="en-US" sz="36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T Hoves Bold Italics"/>
            </a:endParaRPr>
          </a:p>
          <a:p>
            <a:pPr marL="587093" lvl="1" indent="-293547">
              <a:lnSpc>
                <a:spcPts val="5112"/>
              </a:lnSpc>
              <a:buFont typeface="Arial"/>
              <a:buChar char="•"/>
            </a:pPr>
            <a:r>
              <a:rPr lang="en-US" sz="3600" b="1" i="1" dirty="0">
                <a:solidFill>
                  <a:schemeClr val="bg1"/>
                </a:solidFill>
                <a:latin typeface="Times New Roman" panose="02020603050405020304" pitchFamily="18" charset="0"/>
                <a:ea typeface="TT Hoves Bold Italics"/>
                <a:cs typeface="Times New Roman" panose="02020603050405020304" pitchFamily="18" charset="0"/>
                <a:sym typeface="TT Hoves Bold Italics"/>
              </a:rPr>
              <a:t> 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Discount% is weakly correlated with all other features (~ -0.14 to -0.04).</a:t>
            </a:r>
            <a:endParaRPr lang="en-US" sz="3600" b="1" i="1" dirty="0">
              <a:solidFill>
                <a:schemeClr val="bg1"/>
              </a:solidFill>
              <a:latin typeface="Times New Roman" panose="02020603050405020304" pitchFamily="18" charset="0"/>
              <a:ea typeface="TT Hoves Bold Italics"/>
              <a:cs typeface="Times New Roman" panose="02020603050405020304" pitchFamily="18" charset="0"/>
              <a:sym typeface="TT Hoves Bold Italics"/>
            </a:endParaRPr>
          </a:p>
        </p:txBody>
      </p:sp>
    </p:spTree>
    <p:extLst>
      <p:ext uri="{BB962C8B-B14F-4D97-AF65-F5344CB8AC3E}">
        <p14:creationId xmlns:p14="http://schemas.microsoft.com/office/powerpoint/2010/main" val="3158351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6959" y="1567492"/>
            <a:ext cx="18034083" cy="6840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1106" lvl="1" indent="-460553" algn="l">
              <a:lnSpc>
                <a:spcPts val="5972"/>
              </a:lnSpc>
              <a:buFont typeface="Arial"/>
              <a:buChar char="•"/>
            </a:pPr>
            <a:r>
              <a:rPr lang="en-US" sz="3600" dirty="0">
                <a:solidFill>
                  <a:srgbClr val="FFFFFF"/>
                </a:solidFill>
                <a:latin typeface="Times New Roman" panose="02020603050405020304" pitchFamily="18" charset="0"/>
                <a:ea typeface="TT Hoves"/>
                <a:cs typeface="Times New Roman" panose="02020603050405020304" pitchFamily="18" charset="0"/>
                <a:sym typeface="TT Hoves"/>
              </a:rPr>
              <a:t>Faced difficulty identifying correct class and span tags while scraping each column from the website.</a:t>
            </a:r>
          </a:p>
          <a:p>
            <a:pPr marL="921106" lvl="1" indent="-460553" algn="l">
              <a:lnSpc>
                <a:spcPts val="5972"/>
              </a:lnSpc>
              <a:buFont typeface="Arial"/>
              <a:buChar char="•"/>
            </a:pPr>
            <a:r>
              <a:rPr lang="en-US" sz="3600" dirty="0">
                <a:solidFill>
                  <a:srgbClr val="FFFFFF"/>
                </a:solidFill>
                <a:latin typeface="Times New Roman" panose="02020603050405020304" pitchFamily="18" charset="0"/>
                <a:ea typeface="TT Hoves"/>
                <a:cs typeface="Times New Roman" panose="02020603050405020304" pitchFamily="18" charset="0"/>
                <a:sym typeface="TT Hoves"/>
              </a:rPr>
              <a:t>Had to decide which columns were relevant to extract for the problem statement.</a:t>
            </a:r>
          </a:p>
          <a:p>
            <a:pPr marL="921106" lvl="1" indent="-460553" algn="l">
              <a:lnSpc>
                <a:spcPts val="5972"/>
              </a:lnSpc>
              <a:buFont typeface="Arial"/>
              <a:buChar char="•"/>
            </a:pPr>
            <a:r>
              <a:rPr lang="en-US" sz="3600" dirty="0">
                <a:solidFill>
                  <a:srgbClr val="FFFFFF"/>
                </a:solidFill>
                <a:latin typeface="Times New Roman" panose="02020603050405020304" pitchFamily="18" charset="0"/>
                <a:ea typeface="TT Hoves"/>
                <a:cs typeface="Times New Roman" panose="02020603050405020304" pitchFamily="18" charset="0"/>
                <a:sym typeface="TT Hoves"/>
              </a:rPr>
              <a:t>Data was in semi-structured format (inside nested &lt;div&gt; and &lt;span&gt;), not in a clean table, making scraping complex.</a:t>
            </a:r>
          </a:p>
          <a:p>
            <a:pPr marL="921106" lvl="1" indent="-460553" algn="l">
              <a:lnSpc>
                <a:spcPts val="5972"/>
              </a:lnSpc>
              <a:buFont typeface="Arial"/>
              <a:buChar char="•"/>
            </a:pPr>
            <a:r>
              <a:rPr lang="en-US" sz="3600" dirty="0">
                <a:solidFill>
                  <a:srgbClr val="FFFFFF"/>
                </a:solidFill>
                <a:latin typeface="Times New Roman" panose="02020603050405020304" pitchFamily="18" charset="0"/>
                <a:ea typeface="TT Hoves"/>
                <a:cs typeface="Times New Roman" panose="02020603050405020304" pitchFamily="18" charset="0"/>
                <a:sym typeface="TT Hoves"/>
              </a:rPr>
              <a:t>After scraping, data was raw — needed cleaning (e.g., removing ₹ symbols, %, unnecessary words).</a:t>
            </a:r>
          </a:p>
          <a:p>
            <a:pPr marL="921106" lvl="1" indent="-460553" algn="l">
              <a:lnSpc>
                <a:spcPts val="5972"/>
              </a:lnSpc>
              <a:buFont typeface="Arial"/>
              <a:buChar char="•"/>
            </a:pPr>
            <a:r>
              <a:rPr lang="en-US" sz="3600" dirty="0">
                <a:solidFill>
                  <a:srgbClr val="FFFFFF"/>
                </a:solidFill>
                <a:latin typeface="Times New Roman" panose="02020603050405020304" pitchFamily="18" charset="0"/>
                <a:ea typeface="TT Hoves"/>
                <a:cs typeface="Times New Roman" panose="02020603050405020304" pitchFamily="18" charset="0"/>
                <a:sym typeface="TT Hoves"/>
              </a:rPr>
              <a:t>Extracted Duration into separate Day &amp; Night columns.</a:t>
            </a:r>
          </a:p>
          <a:p>
            <a:pPr marL="921106" lvl="1" indent="-460553" algn="l">
              <a:lnSpc>
                <a:spcPts val="5972"/>
              </a:lnSpc>
              <a:buFont typeface="Arial"/>
              <a:buChar char="•"/>
            </a:pPr>
            <a:r>
              <a:rPr lang="en-US" sz="3600" dirty="0">
                <a:solidFill>
                  <a:srgbClr val="FFFFFF"/>
                </a:solidFill>
                <a:latin typeface="Times New Roman" panose="02020603050405020304" pitchFamily="18" charset="0"/>
                <a:ea typeface="TT Hoves"/>
                <a:cs typeface="Times New Roman" panose="02020603050405020304" pitchFamily="18" charset="0"/>
                <a:sym typeface="TT Hoves"/>
              </a:rPr>
              <a:t>Ensured no null or duplicate values were present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-1526282" y="-161925"/>
            <a:ext cx="13885217" cy="1394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1" i="1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CHALLENGES FACED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9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948527" y="-161925"/>
            <a:ext cx="9327943" cy="1394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1" i="1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2283" y="1245303"/>
            <a:ext cx="17259300" cy="8487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343" lvl="1" indent="-485671" algn="l">
              <a:lnSpc>
                <a:spcPts val="8458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Performed complete EDA on TravelTriangle tour packages including scraping, cleaning, and visual analysis.</a:t>
            </a:r>
          </a:p>
          <a:p>
            <a:pPr marL="971343" lvl="1" indent="-485671" algn="l">
              <a:lnSpc>
                <a:spcPts val="8458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Found key insights — Family tours give highest savings, Beach tours generate most revenue, and Meals &amp; Sightseeing are top highlights.</a:t>
            </a:r>
          </a:p>
          <a:p>
            <a:pPr marL="971343" lvl="1" indent="-485671" algn="l">
              <a:lnSpc>
                <a:spcPts val="8458"/>
              </a:lnSpc>
              <a:buFont typeface="Arial"/>
              <a:buChar char="•"/>
            </a:pPr>
            <a:r>
              <a:rPr lang="en-US" sz="4499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These insights can help travel companies design better packages, offer smarter discounts, and target customer interests.</a:t>
            </a:r>
          </a:p>
          <a:p>
            <a:pPr algn="l">
              <a:lnSpc>
                <a:spcPts val="8648"/>
              </a:lnSpc>
            </a:pPr>
            <a:endParaRPr lang="en-US" sz="4499">
              <a:solidFill>
                <a:srgbClr val="FFFFFF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20639" b="-5713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057400" y="3257904"/>
            <a:ext cx="12499837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993"/>
              </a:lnSpc>
            </a:pPr>
            <a:r>
              <a:rPr lang="en-US" sz="14995" dirty="0">
                <a:solidFill>
                  <a:srgbClr val="E4EA71"/>
                </a:solidFill>
                <a:latin typeface="TT Hoves"/>
                <a:ea typeface="TT Hoves"/>
                <a:cs typeface="TT Hoves"/>
                <a:sym typeface="TT Hoves"/>
              </a:rPr>
              <a:t>THANK YOU!</a:t>
            </a:r>
          </a:p>
        </p:txBody>
      </p:sp>
      <p:sp>
        <p:nvSpPr>
          <p:cNvPr id="4" name="Freeform 4"/>
          <p:cNvSpPr/>
          <p:nvPr/>
        </p:nvSpPr>
        <p:spPr>
          <a:xfrm>
            <a:off x="-3133436" y="341688"/>
            <a:ext cx="7382976" cy="4093886"/>
          </a:xfrm>
          <a:custGeom>
            <a:avLst/>
            <a:gdLst/>
            <a:ahLst/>
            <a:cxnLst/>
            <a:rect l="l" t="t" r="r" b="b"/>
            <a:pathLst>
              <a:path w="7382976" h="4093886">
                <a:moveTo>
                  <a:pt x="0" y="0"/>
                </a:moveTo>
                <a:lnTo>
                  <a:pt x="7382975" y="0"/>
                </a:lnTo>
                <a:lnTo>
                  <a:pt x="7382975" y="4093886"/>
                </a:lnTo>
                <a:lnTo>
                  <a:pt x="0" y="40938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40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567812" y="-348468"/>
            <a:ext cx="7382976" cy="4116009"/>
          </a:xfrm>
          <a:custGeom>
            <a:avLst/>
            <a:gdLst/>
            <a:ahLst/>
            <a:cxnLst/>
            <a:rect l="l" t="t" r="r" b="b"/>
            <a:pathLst>
              <a:path w="7382976" h="4116009">
                <a:moveTo>
                  <a:pt x="0" y="0"/>
                </a:moveTo>
                <a:lnTo>
                  <a:pt x="7382976" y="0"/>
                </a:lnTo>
                <a:lnTo>
                  <a:pt x="7382976" y="4116009"/>
                </a:lnTo>
                <a:lnTo>
                  <a:pt x="0" y="41160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Banded</Template>
  <TotalTime>584</TotalTime>
  <Words>1033</Words>
  <Application>Microsoft Office PowerPoint</Application>
  <PresentationFormat>Custom</PresentationFormat>
  <Paragraphs>140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TT Hoves Bold</vt:lpstr>
      <vt:lpstr>TT Hoves</vt:lpstr>
      <vt:lpstr>TT Hoves Bold </vt:lpstr>
      <vt:lpstr>Canva Sans Bold Italics</vt:lpstr>
      <vt:lpstr>Times New Roman</vt:lpstr>
      <vt:lpstr>Canva Sans Bold</vt:lpstr>
      <vt:lpstr>Calibri</vt:lpstr>
      <vt:lpstr>Office Theme</vt:lpstr>
      <vt:lpstr>PowerPoint Presentation</vt:lpstr>
      <vt:lpstr>About 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</dc:title>
  <dc:creator>HP</dc:creator>
  <cp:lastModifiedBy>malyadri gobidesi</cp:lastModifiedBy>
  <cp:revision>8</cp:revision>
  <dcterms:created xsi:type="dcterms:W3CDTF">2006-08-16T00:00:00Z</dcterms:created>
  <dcterms:modified xsi:type="dcterms:W3CDTF">2025-09-13T07:53:19Z</dcterms:modified>
  <dc:identifier>DAGsUoRrkIw</dc:identifier>
</cp:coreProperties>
</file>